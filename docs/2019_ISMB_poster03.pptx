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9453" userDrawn="1">
          <p15:clr>
            <a:srgbClr val="000000"/>
          </p15:clr>
        </p15:guide>
        <p15:guide id="3" pos="9618" userDrawn="1">
          <p15:clr>
            <a:srgbClr val="000000"/>
          </p15:clr>
        </p15:guide>
        <p15:guide id="4" orient="horz" pos="26704" userDrawn="1">
          <p15:clr>
            <a:srgbClr val="000000"/>
          </p15:clr>
        </p15:guide>
        <p15:guide id="5" orient="horz" pos="2420" userDrawn="1">
          <p15:clr>
            <a:srgbClr val="000000"/>
          </p15:clr>
        </p15:guide>
        <p15:guide id="6" orient="horz" pos="2213" userDrawn="1">
          <p15:clr>
            <a:srgbClr val="000000"/>
          </p15:clr>
        </p15:guide>
        <p15:guide id="7" pos="217" userDrawn="1">
          <p15:clr>
            <a:srgbClr val="000000"/>
          </p15:clr>
        </p15:guide>
        <p15:guide id="8" pos="18854" userDrawn="1">
          <p15:clr>
            <a:srgbClr val="000000"/>
          </p15:clr>
        </p15:guide>
        <p15:guide id="9" pos="426" userDrawn="1">
          <p15:clr>
            <a:srgbClr val="000000"/>
          </p15:clr>
        </p15:guide>
        <p15:guide id="10" pos="9827" userDrawn="1">
          <p15:clr>
            <a:srgbClr val="A4A3A4"/>
          </p15:clr>
        </p15:guide>
        <p15:guide id="11" orient="horz" pos="23336" userDrawn="1">
          <p15:clr>
            <a:srgbClr val="C35EA4"/>
          </p15:clr>
        </p15:guide>
        <p15:guide id="12" orient="horz" pos="23253" userDrawn="1">
          <p15:clr>
            <a:srgbClr val="C35EA4"/>
          </p15:clr>
        </p15:guide>
        <p15:guide id="13" orient="horz" pos="5539" userDrawn="1">
          <p15:clr>
            <a:srgbClr val="A4A3A4"/>
          </p15:clr>
        </p15:guide>
        <p15:guide id="14" orient="horz" pos="5622" userDrawn="1">
          <p15:clr>
            <a:srgbClr val="A4A3A4"/>
          </p15:clr>
        </p15:guide>
        <p15:guide id="15" orient="horz" pos="23004" userDrawn="1">
          <p15:clr>
            <a:srgbClr val="F26B43"/>
          </p15:clr>
        </p15:guide>
        <p15:guide id="16" orient="horz" pos="22921" userDrawn="1">
          <p15:clr>
            <a:srgbClr val="F26B43"/>
          </p15:clr>
        </p15:guide>
        <p15:guide id="17" orient="horz" pos="5414" userDrawn="1">
          <p15:clr>
            <a:srgbClr val="A4A3A4"/>
          </p15:clr>
        </p15:guide>
        <p15:guide id="18" orient="horz" pos="21798" userDrawn="1">
          <p15:clr>
            <a:srgbClr val="A4A3A4"/>
          </p15:clr>
        </p15:guide>
        <p15:guide id="19" orient="horz" pos="23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0F6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99"/>
    <p:restoredTop sz="86395"/>
  </p:normalViewPr>
  <p:slideViewPr>
    <p:cSldViewPr snapToObjects="1">
      <p:cViewPr varScale="1">
        <p:scale>
          <a:sx n="19" d="100"/>
          <a:sy n="19" d="100"/>
        </p:scale>
        <p:origin x="3488" y="416"/>
      </p:cViewPr>
      <p:guideLst>
        <p:guide pos="9453"/>
        <p:guide pos="9618"/>
        <p:guide orient="horz" pos="26704"/>
        <p:guide orient="horz" pos="2420"/>
        <p:guide orient="horz" pos="2213"/>
        <p:guide pos="217"/>
        <p:guide pos="18854"/>
        <p:guide pos="426"/>
        <p:guide pos="9827"/>
        <p:guide orient="horz" pos="23336"/>
        <p:guide orient="horz" pos="23253"/>
        <p:guide orient="horz" pos="5539"/>
        <p:guide orient="horz" pos="5622"/>
        <p:guide orient="horz" pos="23004"/>
        <p:guide orient="horz" pos="22921"/>
        <p:guide orient="horz" pos="5414"/>
        <p:guide orient="horz" pos="21798"/>
        <p:guide orient="horz" pos="23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FBCE9-8CD1-E94C-B66D-03286ACDAFAD}" type="datetimeFigureOut">
              <a:rPr lang="en-US" smtClean="0"/>
              <a:t>7/13/19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27873-FB29-6643-B716-45FDCC08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542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67B07-09BE-B845-9059-2B64BC42C6A7}" type="datetimeFigureOut">
              <a:rPr lang="en-US" smtClean="0"/>
              <a:t>7/13/19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2B9BA-3F14-8749-AE66-A9B6123AB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321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2788737" rtl="0" eaLnBrk="1" latinLnBrk="0" hangingPunct="1">
      <a:defRPr sz="3659" kern="1200">
        <a:solidFill>
          <a:schemeClr val="tx1"/>
        </a:solidFill>
        <a:latin typeface="+mn-lt"/>
        <a:ea typeface="+mn-ea"/>
        <a:cs typeface="+mn-cs"/>
      </a:defRPr>
    </a:lvl1pPr>
    <a:lvl2pPr marL="1394368" algn="l" defTabSz="2788737" rtl="0" eaLnBrk="1" latinLnBrk="0" hangingPunct="1">
      <a:defRPr sz="3659" kern="1200">
        <a:solidFill>
          <a:schemeClr val="tx1"/>
        </a:solidFill>
        <a:latin typeface="+mn-lt"/>
        <a:ea typeface="+mn-ea"/>
        <a:cs typeface="+mn-cs"/>
      </a:defRPr>
    </a:lvl2pPr>
    <a:lvl3pPr marL="2788737" algn="l" defTabSz="2788737" rtl="0" eaLnBrk="1" latinLnBrk="0" hangingPunct="1">
      <a:defRPr sz="3659" kern="1200">
        <a:solidFill>
          <a:schemeClr val="tx1"/>
        </a:solidFill>
        <a:latin typeface="+mn-lt"/>
        <a:ea typeface="+mn-ea"/>
        <a:cs typeface="+mn-cs"/>
      </a:defRPr>
    </a:lvl3pPr>
    <a:lvl4pPr marL="4183104" algn="l" defTabSz="2788737" rtl="0" eaLnBrk="1" latinLnBrk="0" hangingPunct="1">
      <a:defRPr sz="3659" kern="1200">
        <a:solidFill>
          <a:schemeClr val="tx1"/>
        </a:solidFill>
        <a:latin typeface="+mn-lt"/>
        <a:ea typeface="+mn-ea"/>
        <a:cs typeface="+mn-cs"/>
      </a:defRPr>
    </a:lvl4pPr>
    <a:lvl5pPr marL="5577473" algn="l" defTabSz="2788737" rtl="0" eaLnBrk="1" latinLnBrk="0" hangingPunct="1">
      <a:defRPr sz="3659" kern="1200">
        <a:solidFill>
          <a:schemeClr val="tx1"/>
        </a:solidFill>
        <a:latin typeface="+mn-lt"/>
        <a:ea typeface="+mn-ea"/>
        <a:cs typeface="+mn-cs"/>
      </a:defRPr>
    </a:lvl5pPr>
    <a:lvl6pPr marL="6971840" algn="l" defTabSz="2788737" rtl="0" eaLnBrk="1" latinLnBrk="0" hangingPunct="1">
      <a:defRPr sz="3659" kern="1200">
        <a:solidFill>
          <a:schemeClr val="tx1"/>
        </a:solidFill>
        <a:latin typeface="+mn-lt"/>
        <a:ea typeface="+mn-ea"/>
        <a:cs typeface="+mn-cs"/>
      </a:defRPr>
    </a:lvl6pPr>
    <a:lvl7pPr marL="8366209" algn="l" defTabSz="2788737" rtl="0" eaLnBrk="1" latinLnBrk="0" hangingPunct="1">
      <a:defRPr sz="3659" kern="1200">
        <a:solidFill>
          <a:schemeClr val="tx1"/>
        </a:solidFill>
        <a:latin typeface="+mn-lt"/>
        <a:ea typeface="+mn-ea"/>
        <a:cs typeface="+mn-cs"/>
      </a:defRPr>
    </a:lvl7pPr>
    <a:lvl8pPr marL="9760576" algn="l" defTabSz="2788737" rtl="0" eaLnBrk="1" latinLnBrk="0" hangingPunct="1">
      <a:defRPr sz="3659" kern="1200">
        <a:solidFill>
          <a:schemeClr val="tx1"/>
        </a:solidFill>
        <a:latin typeface="+mn-lt"/>
        <a:ea typeface="+mn-ea"/>
        <a:cs typeface="+mn-cs"/>
      </a:defRPr>
    </a:lvl8pPr>
    <a:lvl9pPr marL="11154945" algn="l" defTabSz="2788737" rtl="0" eaLnBrk="1" latinLnBrk="0" hangingPunct="1">
      <a:defRPr sz="365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1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28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0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82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8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77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4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51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66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84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7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8F7B0-8F1E-D447-B392-10BCC54AAA2E}" type="datetimeFigureOut">
              <a:rPr lang="en-US" smtClean="0"/>
              <a:t>7/13/19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FF8D2-2747-8F40-A50F-72AE0F156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1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1.emf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emf"/><Relationship Id="rId11" Type="http://schemas.openxmlformats.org/officeDocument/2006/relationships/image" Target="../media/image8.emf"/><Relationship Id="rId5" Type="http://schemas.openxmlformats.org/officeDocument/2006/relationships/image" Target="../media/image2.emf"/><Relationship Id="rId10" Type="http://schemas.openxmlformats.org/officeDocument/2006/relationships/image" Target="../media/image7.emf"/><Relationship Id="rId4" Type="http://schemas.openxmlformats.org/officeDocument/2006/relationships/hyperlink" Target="http://predictprotein.org/" TargetMode="External"/><Relationship Id="rId9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20250173" y="3824199"/>
            <a:ext cx="9674198" cy="496882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endParaRPr lang="en-GB" altLang="en-US" sz="2680">
              <a:solidFill>
                <a:prstClr val="black">
                  <a:lumMod val="75000"/>
                  <a:lumOff val="25000"/>
                </a:prstClr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-23924" y="-5402"/>
            <a:ext cx="30293182" cy="3160631"/>
          </a:xfrm>
          <a:prstGeom prst="rect">
            <a:avLst/>
          </a:prstGeom>
          <a:solidFill>
            <a:srgbClr val="490F60"/>
          </a:solidFill>
          <a:ln>
            <a:noFill/>
          </a:ln>
          <a:effectLst/>
        </p:spPr>
        <p:txBody>
          <a:bodyPr wrap="square" lIns="280670" tIns="306208" rIns="280670" bIns="306208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pPr algn="ctr"/>
            <a:r>
              <a:rPr lang="en-GB" altLang="en-US" sz="660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Phylogenetic analysis in the predicted secondary structure space</a:t>
            </a:r>
          </a:p>
          <a:p>
            <a:pPr algn="ctr"/>
            <a:endParaRPr lang="en-GB" altLang="en-US" sz="4593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  <a:p>
            <a:pPr algn="ctr"/>
            <a:endParaRPr lang="en-GB" altLang="en-US" sz="4593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0" name="Text Box 96"/>
          <p:cNvSpPr txBox="1">
            <a:spLocks noChangeArrowheads="1"/>
          </p:cNvSpPr>
          <p:nvPr/>
        </p:nvSpPr>
        <p:spPr bwMode="auto">
          <a:xfrm>
            <a:off x="5955" y="1334163"/>
            <a:ext cx="30263303" cy="1726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280670" tIns="30317" rIns="280670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pPr algn="ctr"/>
            <a:r>
              <a:rPr lang="en-GB" altLang="en-US" sz="4018" u="sng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Jhih-Siang Lai</a:t>
            </a:r>
            <a:r>
              <a:rPr lang="en-GB" altLang="en-US" sz="4018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, Burkard Rost, Bostjan Kobe and Mikael Bodén</a:t>
            </a:r>
            <a:br>
              <a:rPr lang="en-GB" altLang="en-US" sz="4018" b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</a:br>
            <a:r>
              <a:rPr lang="en-GB" altLang="en-US" sz="3402" b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School of Chemistry and Molecular Biosciences, The University of Queensland, Brisbane, QLD 4072, Australia</a:t>
            </a:r>
          </a:p>
          <a:p>
            <a:pPr algn="ctr"/>
            <a:r>
              <a:rPr lang="en-GB" altLang="en-US" sz="3402" b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js.lai@uqconnect.edu.au</a:t>
            </a:r>
            <a:endParaRPr lang="en-GB" altLang="en-US" sz="4018" b="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401965" y="528232"/>
            <a:ext cx="2323151" cy="2225986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682514" y="3824199"/>
            <a:ext cx="19279627" cy="496882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endParaRPr lang="en-GB" altLang="en-US" sz="2680">
              <a:solidFill>
                <a:prstClr val="black">
                  <a:lumMod val="75000"/>
                  <a:lumOff val="25000"/>
                </a:prstClr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51" name="Process 50"/>
          <p:cNvSpPr/>
          <p:nvPr/>
        </p:nvSpPr>
        <p:spPr>
          <a:xfrm>
            <a:off x="350866" y="3519767"/>
            <a:ext cx="5366899" cy="705373"/>
          </a:xfrm>
          <a:prstGeom prst="flowChartProcess">
            <a:avLst/>
          </a:prstGeom>
          <a:solidFill>
            <a:srgbClr val="0070C0"/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33" b="1">
                <a:latin typeface="Roboto" charset="0"/>
                <a:ea typeface="Roboto" charset="0"/>
                <a:cs typeface="Roboto" charset="0"/>
              </a:rPr>
              <a:t>Background</a:t>
            </a:r>
          </a:p>
        </p:txBody>
      </p:sp>
      <p:sp>
        <p:nvSpPr>
          <p:cNvPr id="55" name="Text Box 233"/>
          <p:cNvSpPr txBox="1">
            <a:spLocks noChangeArrowheads="1"/>
          </p:cNvSpPr>
          <p:nvPr/>
        </p:nvSpPr>
        <p:spPr bwMode="auto">
          <a:xfrm>
            <a:off x="708147" y="4225141"/>
            <a:ext cx="19253994" cy="3728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306208" tIns="30317" rIns="306208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pPr algn="just" defTabSz="2645070">
              <a:lnSpc>
                <a:spcPts val="3582"/>
              </a:lnSpc>
            </a:pP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The sequence-based 3-class secondary structure prediction reaches reasonable performances. The prediction model can be considered as a mapping from the “sequence” to the “predicted protein fold” space. In the sequence space, a residue has 20 standard amino acid states; in the prediction space, a residue has 60 states of  20 amino-acid states and 3 secondary-structure states jointly. This work proposed a generalised evolutionary model (MODEL60) in the prediction space of PredictProtein [1]. We implemented Needleman-Wunsch’s alignment method with the substitution matrix derived from MODEL60. We evaluated alignments with Q and QMEAN [3]. A maximum likelihood tree inference method was implemented with MODEL60. Based on the dataset of Toll/interleukin-1 receptor (TIR) domains proposed in our previous work [4], we compared the phylogenetic trees inferred by MODEL60, amino acid and the DSSP models.</a:t>
            </a:r>
          </a:p>
        </p:txBody>
      </p:sp>
      <p:sp>
        <p:nvSpPr>
          <p:cNvPr id="57" name="Process 56"/>
          <p:cNvSpPr/>
          <p:nvPr/>
        </p:nvSpPr>
        <p:spPr>
          <a:xfrm>
            <a:off x="19635803" y="3519767"/>
            <a:ext cx="5366899" cy="705373"/>
          </a:xfrm>
          <a:prstGeom prst="flowChartProcess">
            <a:avLst/>
          </a:prstGeom>
          <a:solidFill>
            <a:srgbClr val="0070C0"/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33" b="1">
                <a:latin typeface="Roboto" charset="0"/>
                <a:ea typeface="Roboto" charset="0"/>
                <a:cs typeface="Roboto" charset="0"/>
              </a:rPr>
              <a:t>Aims</a:t>
            </a:r>
          </a:p>
        </p:txBody>
      </p:sp>
      <p:sp>
        <p:nvSpPr>
          <p:cNvPr id="58" name="Text Box 233"/>
          <p:cNvSpPr txBox="1">
            <a:spLocks noChangeArrowheads="1"/>
          </p:cNvSpPr>
          <p:nvPr/>
        </p:nvSpPr>
        <p:spPr bwMode="auto">
          <a:xfrm>
            <a:off x="20250174" y="4335985"/>
            <a:ext cx="9636916" cy="4078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306208" tIns="30317" rIns="306208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pPr marL="419115" indent="-419115" algn="just" defTabSz="2645070">
              <a:lnSpc>
                <a:spcPts val="3491"/>
              </a:lnSpc>
              <a:buSzPct val="125000"/>
              <a:buFont typeface="Wingdings" charset="2"/>
              <a:buChar char="§"/>
            </a:pP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Build a Markov-based evolutionary model for the joint states of the amino acid and the predicted secondary structure</a:t>
            </a:r>
          </a:p>
          <a:p>
            <a:pPr marL="419115" indent="-419115" algn="just" defTabSz="2645070">
              <a:lnSpc>
                <a:spcPts val="3491"/>
              </a:lnSpc>
              <a:buSzPct val="125000"/>
              <a:buFont typeface="Wingdings" charset="2"/>
              <a:buChar char="§"/>
            </a:pP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Construct a substitution matrix of the model to perform the pairwise alignment</a:t>
            </a:r>
          </a:p>
          <a:p>
            <a:pPr marL="419115" indent="-419115" algn="just" defTabSz="2645070">
              <a:lnSpc>
                <a:spcPts val="3491"/>
              </a:lnSpc>
              <a:buSzPct val="125000"/>
              <a:buFont typeface="Wingdings" charset="2"/>
              <a:buChar char="§"/>
            </a:pP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Evaluate the pairwise alignment performance using comparative modelling</a:t>
            </a:r>
          </a:p>
          <a:p>
            <a:pPr marL="419115" indent="-419115" algn="just" defTabSz="2645070">
              <a:lnSpc>
                <a:spcPts val="3491"/>
              </a:lnSpc>
              <a:buSzPct val="125000"/>
              <a:buFont typeface="Wingdings" charset="2"/>
              <a:buChar char="§"/>
            </a:pP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Show the capability to infer the phylogenetic tree using the new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9666" y="36553850"/>
            <a:ext cx="14324680" cy="583985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endParaRPr lang="en-GB" altLang="en-US" sz="2680">
              <a:solidFill>
                <a:prstClr val="black">
                  <a:lumMod val="75000"/>
                  <a:lumOff val="25000"/>
                </a:prstClr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6" name="Text Box 233"/>
          <p:cNvSpPr txBox="1">
            <a:spLocks noChangeArrowheads="1"/>
          </p:cNvSpPr>
          <p:nvPr/>
        </p:nvSpPr>
        <p:spPr bwMode="auto">
          <a:xfrm>
            <a:off x="15401655" y="37442853"/>
            <a:ext cx="14521786" cy="4985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306208" tIns="30317" rIns="306208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pPr algn="just"/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[1] 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Yachdav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Guy, et al. "PredictProtein—an open resource for online prediction of protein structural and functional features." </a:t>
            </a:r>
            <a:r>
              <a:rPr lang="en-GB" sz="2000" b="0" i="1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Nucleic Acids Research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 42.W1 (2014): W337-W343.</a:t>
            </a:r>
            <a:endParaRPr lang="en-GB" altLang="en-US" sz="2000" b="0" dirty="0">
              <a:solidFill>
                <a:prstClr val="black">
                  <a:lumMod val="75000"/>
                  <a:lumOff val="25000"/>
                </a:prstClr>
              </a:solidFill>
              <a:latin typeface="Roboto" panose="02000000000000000000" pitchFamily="2" charset="0"/>
              <a:ea typeface="Roboto" panose="02000000000000000000" pitchFamily="2" charset="0"/>
              <a:cs typeface="Roboto" charset="0"/>
            </a:endParaRPr>
          </a:p>
          <a:p>
            <a:pPr algn="just"/>
            <a:r>
              <a:rPr lang="en-GB" altLang="en-US" sz="20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anose="02000000000000000000" pitchFamily="2" charset="0"/>
                <a:ea typeface="Roboto" panose="02000000000000000000" pitchFamily="2" charset="0"/>
                <a:cs typeface="Roboto" charset="0"/>
              </a:rPr>
              <a:t>[2] 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Kabsch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Wolfgang, and Christian Sander. "Dictionary of protein secondary structure: pattern recognition of hydrogen‐bonded and geometrical features." </a:t>
            </a:r>
            <a:r>
              <a:rPr lang="en-GB" sz="2000" b="0" i="1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Biopolymers: Original Research on Biomolecules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 22.12 (1983): 2577-2637.</a:t>
            </a:r>
          </a:p>
          <a:p>
            <a:pPr algn="just"/>
            <a:r>
              <a:rPr lang="en-GB" altLang="en-US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charset="0"/>
              </a:rPr>
              <a:t>[3] 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Benkert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Pascal, Marco 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Biasini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and 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Torsten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Schwede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"Toward the estimation of the absolute quality of individual protein structure models." </a:t>
            </a:r>
            <a:r>
              <a:rPr lang="en-GB" sz="2000" b="0" i="1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Bioinformatics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 27.3 (2010): 343-350.</a:t>
            </a:r>
          </a:p>
          <a:p>
            <a:pPr algn="just"/>
            <a:r>
              <a:rPr lang="en-GB" altLang="en-US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charset="0"/>
              </a:rPr>
              <a:t>[4] 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Lai, Jhih-Siang, et al. "Evolutionary model of protein secondary structure capable of revealing new biological relationships." </a:t>
            </a:r>
            <a:r>
              <a:rPr lang="en-GB" sz="2000" b="0" i="1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bioRxiv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 (2019): 563452.</a:t>
            </a:r>
          </a:p>
          <a:p>
            <a:pPr algn="just"/>
            <a:r>
              <a:rPr lang="en-GB" altLang="en-US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charset="0"/>
              </a:rPr>
              <a:t>[5] 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Jones, David T., William R. Taylor, and Janet M. Thornton. "The rapid generation of mutation data matrices from protein sequences." </a:t>
            </a:r>
            <a:r>
              <a:rPr lang="en-GB" sz="2000" b="0" i="1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Bioinformatics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 8.3 (1992): 275-282.</a:t>
            </a:r>
          </a:p>
          <a:p>
            <a:pPr algn="just"/>
            <a:r>
              <a:rPr lang="en-GB" altLang="en-US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charset="0"/>
              </a:rPr>
              <a:t>[6] 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Henikoff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Steven, and 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Jorja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G. 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Henikoff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"Amino acid substitution matrices from protein blocks." </a:t>
            </a:r>
            <a:r>
              <a:rPr lang="en-GB" sz="2000" b="0" i="1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Proceedings of the National Academy of Sciences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 89.22 (1992): 10915-10919.</a:t>
            </a:r>
          </a:p>
          <a:p>
            <a:pPr algn="just"/>
            <a:r>
              <a:rPr lang="en-GB" altLang="en-US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charset="0"/>
              </a:rPr>
              <a:t>[7] 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El-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Gebali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Sara, et al. "The Pfam protein families database in 2019." </a:t>
            </a:r>
            <a:r>
              <a:rPr lang="en-GB" sz="2000" b="0" i="1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Nucleic acids research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 47.D1 (2018): D427-D432.</a:t>
            </a:r>
          </a:p>
          <a:p>
            <a:pPr algn="just"/>
            <a:r>
              <a:rPr lang="en-GB" altLang="en-US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  <a:cs typeface="Roboto" charset="0"/>
              </a:rPr>
              <a:t>[8] 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Webb, Benjamin, and Andrej 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Sali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"Comparative protein structure </a:t>
            </a:r>
            <a:r>
              <a:rPr lang="en-GB" sz="2000" b="0" dirty="0" err="1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modeling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using MODELLER." </a:t>
            </a:r>
            <a:r>
              <a:rPr lang="en-GB" sz="2000" b="0" i="1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Current protocols in Bioinformatics</a:t>
            </a:r>
            <a:r>
              <a:rPr lang="en-GB" sz="2000" b="0" dirty="0">
                <a:solidFill>
                  <a:srgbClr val="1A1A1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 47.1 (2014): 5-6.</a:t>
            </a:r>
            <a:endParaRPr lang="en-GB" altLang="en-US" sz="2000" b="0" dirty="0">
              <a:solidFill>
                <a:prstClr val="black">
                  <a:lumMod val="75000"/>
                  <a:lumOff val="25000"/>
                </a:prstClr>
              </a:solidFill>
              <a:latin typeface="Roboto" panose="02000000000000000000" pitchFamily="2" charset="0"/>
              <a:ea typeface="Roboto" panose="02000000000000000000" pitchFamily="2" charset="0"/>
              <a:cs typeface="Roboto" charset="0"/>
            </a:endParaRPr>
          </a:p>
          <a:p>
            <a:pPr marL="419115" indent="-419115" algn="just" defTabSz="2645070"/>
            <a:endParaRPr lang="en-GB" altLang="en-US" sz="2000" b="0" dirty="0">
              <a:solidFill>
                <a:prstClr val="black">
                  <a:lumMod val="75000"/>
                  <a:lumOff val="25000"/>
                </a:prstClr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0900" y="8965952"/>
            <a:ext cx="29243445" cy="2741496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endParaRPr lang="en-GB" altLang="en-US" sz="2680">
              <a:solidFill>
                <a:prstClr val="black">
                  <a:lumMod val="75000"/>
                  <a:lumOff val="25000"/>
                </a:prstClr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9" name="Process 18"/>
          <p:cNvSpPr/>
          <p:nvPr/>
        </p:nvSpPr>
        <p:spPr>
          <a:xfrm>
            <a:off x="349253" y="8595509"/>
            <a:ext cx="5366899" cy="705373"/>
          </a:xfrm>
          <a:prstGeom prst="flowChartProcess">
            <a:avLst/>
          </a:prstGeom>
          <a:solidFill>
            <a:srgbClr val="0070C0"/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33" b="1">
                <a:latin typeface="Roboto" charset="0"/>
                <a:ea typeface="Roboto" charset="0"/>
                <a:cs typeface="Roboto" charset="0"/>
              </a:rPr>
              <a:t>Results</a:t>
            </a:r>
          </a:p>
        </p:txBody>
      </p:sp>
      <p:sp>
        <p:nvSpPr>
          <p:cNvPr id="21" name="Text Box 229"/>
          <p:cNvSpPr txBox="1">
            <a:spLocks noChangeArrowheads="1"/>
          </p:cNvSpPr>
          <p:nvPr/>
        </p:nvSpPr>
        <p:spPr bwMode="auto">
          <a:xfrm>
            <a:off x="680902" y="9321643"/>
            <a:ext cx="14919461" cy="61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280670" tIns="30317" rIns="280670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pPr algn="just"/>
            <a:r>
              <a:rPr lang="en-GB" altLang="en-US" sz="3615" dirty="0">
                <a:uFill>
                  <a:solidFill>
                    <a:schemeClr val="tx1"/>
                  </a:solidFill>
                </a:uFill>
                <a:latin typeface="Roboto" charset="0"/>
                <a:ea typeface="Roboto" charset="0"/>
                <a:cs typeface="Roboto" charset="0"/>
              </a:rPr>
              <a:t>Generalised substitution matrix (amino acid and secondary structure)</a:t>
            </a:r>
            <a:endParaRPr lang="en-GB" altLang="en-US" sz="3615" dirty="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5" name="Text Box 229"/>
          <p:cNvSpPr txBox="1">
            <a:spLocks noChangeArrowheads="1"/>
          </p:cNvSpPr>
          <p:nvPr/>
        </p:nvSpPr>
        <p:spPr bwMode="auto">
          <a:xfrm>
            <a:off x="15598442" y="9335077"/>
            <a:ext cx="14324999" cy="61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280670" tIns="30317" rIns="280670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pPr algn="just"/>
            <a:r>
              <a:rPr lang="en-GB" altLang="en-US" sz="3615" dirty="0">
                <a:uFill>
                  <a:solidFill>
                    <a:schemeClr val="tx1"/>
                  </a:solidFill>
                </a:uFill>
                <a:latin typeface="Roboto" charset="0"/>
                <a:ea typeface="Roboto" charset="0"/>
                <a:cs typeface="Roboto" charset="0"/>
              </a:rPr>
              <a:t>Performance of pairwise alignment by using generalised model</a:t>
            </a:r>
          </a:p>
        </p:txBody>
      </p:sp>
      <p:sp>
        <p:nvSpPr>
          <p:cNvPr id="64" name="Text Box 229"/>
          <p:cNvSpPr txBox="1">
            <a:spLocks noChangeArrowheads="1"/>
          </p:cNvSpPr>
          <p:nvPr/>
        </p:nvSpPr>
        <p:spPr bwMode="auto">
          <a:xfrm>
            <a:off x="676275" y="23304629"/>
            <a:ext cx="28646907" cy="61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280670" tIns="30317" rIns="280670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pPr algn="just"/>
            <a:r>
              <a:rPr lang="en-GB" altLang="en-US" sz="3615" dirty="0">
                <a:uFill>
                  <a:solidFill>
                    <a:schemeClr val="tx1"/>
                  </a:solidFill>
                </a:uFill>
                <a:latin typeface="Roboto" charset="0"/>
                <a:ea typeface="Roboto" charset="0"/>
                <a:cs typeface="Roboto" charset="0"/>
              </a:rPr>
              <a:t>Phylogenetic trees of Toll/interleukin-1 receptor (TIR) domains, DSSP model vs. generalised model vs. amino acid model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0927" y="36508962"/>
            <a:ext cx="14324680" cy="588440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0"/>
                  <a:lumOff val="10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endParaRPr lang="en-GB" altLang="en-US" sz="2680">
              <a:solidFill>
                <a:prstClr val="black">
                  <a:lumMod val="75000"/>
                  <a:lumOff val="25000"/>
                </a:prstClr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9" name="Text Box 233"/>
          <p:cNvSpPr txBox="1">
            <a:spLocks noChangeArrowheads="1"/>
          </p:cNvSpPr>
          <p:nvPr/>
        </p:nvSpPr>
        <p:spPr bwMode="auto">
          <a:xfrm>
            <a:off x="680902" y="36914755"/>
            <a:ext cx="14323775" cy="5428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306208" tIns="30317" rIns="306208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pPr marL="419115" indent="-419115" algn="just" defTabSz="2645070">
              <a:lnSpc>
                <a:spcPts val="2985"/>
              </a:lnSpc>
              <a:buSzPct val="125000"/>
              <a:buFont typeface="Wingdings" charset="2"/>
              <a:buChar char="§"/>
              <a:defRPr/>
            </a:pPr>
            <a:r>
              <a:rPr lang="en-GB" altLang="en-US" sz="24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PredictProtein (</a:t>
            </a:r>
            <a:r>
              <a:rPr lang="en-GB" altLang="en-US" sz="24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  <a:hlinkClick r:id="rId4"/>
              </a:rPr>
              <a:t>http://predictprotein.org/</a:t>
            </a:r>
            <a:r>
              <a:rPr lang="en-GB" altLang="en-US" sz="24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) was used to predict secondary structure states [1].</a:t>
            </a:r>
          </a:p>
          <a:p>
            <a:pPr marL="419115" indent="-419115" algn="just" defTabSz="2645070">
              <a:lnSpc>
                <a:spcPts val="2985"/>
              </a:lnSpc>
              <a:buSzPct val="125000"/>
              <a:buFont typeface="Wingdings" charset="2"/>
              <a:buChar char="§"/>
              <a:defRPr/>
            </a:pPr>
            <a:r>
              <a:rPr lang="en-GB" altLang="en-US" sz="24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147,667 proteins were used to generate 948,283 pairwise alignments that satisfy 85% sequence identities. Jones, Taylor and Thornton’s method [5] were used to construct the model, and MODEL60 was created by Dayhoff’s style (related odds matrix).</a:t>
            </a:r>
          </a:p>
          <a:p>
            <a:pPr marL="419115" indent="-419115" algn="just" defTabSz="2645070">
              <a:lnSpc>
                <a:spcPts val="2985"/>
              </a:lnSpc>
              <a:buSzPct val="125000"/>
              <a:buFont typeface="Wingdings" charset="2"/>
              <a:buChar char="§"/>
              <a:defRPr/>
            </a:pPr>
            <a:r>
              <a:rPr lang="en-GB" altLang="en-US" sz="24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Needleman-Wunsch’s global alignment was used with affine gap penalties for both MODEL60-based substitution matrices and BLOSUM matrices [6].</a:t>
            </a:r>
          </a:p>
          <a:p>
            <a:pPr marL="419115" indent="-419115" algn="just" defTabSz="2645070">
              <a:lnSpc>
                <a:spcPts val="2985"/>
              </a:lnSpc>
              <a:buSzPct val="125000"/>
              <a:buFont typeface="Wingdings" charset="2"/>
              <a:buChar char="§"/>
              <a:defRPr/>
            </a:pPr>
            <a:r>
              <a:rPr lang="en-GB" altLang="en-US" sz="24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We selected high-resolution structures from the Pfam A-seed [7], and only families or domains were considered.</a:t>
            </a:r>
          </a:p>
          <a:p>
            <a:pPr marL="419115" indent="-419115" algn="just" defTabSz="2645070">
              <a:lnSpc>
                <a:spcPts val="2985"/>
              </a:lnSpc>
              <a:buSzPct val="125000"/>
              <a:buFont typeface="Wingdings" charset="2"/>
              <a:buChar char="§"/>
              <a:defRPr/>
            </a:pPr>
            <a:r>
              <a:rPr lang="en-GB" altLang="en-US" sz="24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7,442 pairwise structure superpositions were calculated, and were further divided into subsets based on “shared sequence identities”, i.e., &lt;10% (737 pairs), &lt;25% (4,471), &lt;50% (6,932) and ≥50% (510). </a:t>
            </a:r>
          </a:p>
          <a:p>
            <a:pPr marL="419115" indent="-419115" algn="just" defTabSz="2645070">
              <a:lnSpc>
                <a:spcPts val="2985"/>
              </a:lnSpc>
              <a:buSzPct val="125000"/>
              <a:buFont typeface="Wingdings" charset="2"/>
              <a:buChar char="§"/>
              <a:defRPr/>
            </a:pPr>
            <a:r>
              <a:rPr lang="en-GB" altLang="en-US" sz="24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Modeller [8] was used for the comparative modelling. QMEAN [3] was used to measure the quality.</a:t>
            </a:r>
          </a:p>
          <a:p>
            <a:pPr marL="419115" indent="-419115" algn="just" defTabSz="2645070">
              <a:lnSpc>
                <a:spcPts val="2985"/>
              </a:lnSpc>
              <a:buSzPct val="125000"/>
              <a:buFont typeface="Wingdings" charset="2"/>
              <a:buChar char="§"/>
              <a:defRPr/>
            </a:pPr>
            <a:r>
              <a:rPr lang="en-GB" altLang="en-US" sz="24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The phylogenetic trees were constructed by bootstrapping. We used the dataset from our previous work [4], in which 64 Toll/interleukin-1 receptor domain structures were </a:t>
            </a:r>
            <a:r>
              <a:rPr lang="en-GB" altLang="en-US" sz="2400" b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superimposed.</a:t>
            </a:r>
            <a:endParaRPr lang="en-GB" altLang="en-US" sz="2400" b="0" dirty="0">
              <a:solidFill>
                <a:prstClr val="black">
                  <a:lumMod val="75000"/>
                  <a:lumOff val="25000"/>
                </a:prstClr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88" name="Process 87"/>
          <p:cNvSpPr/>
          <p:nvPr/>
        </p:nvSpPr>
        <p:spPr>
          <a:xfrm>
            <a:off x="364102" y="36188687"/>
            <a:ext cx="5366899" cy="705373"/>
          </a:xfrm>
          <a:prstGeom prst="flowChartProcess">
            <a:avLst/>
          </a:prstGeom>
          <a:solidFill>
            <a:srgbClr val="0070C0"/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33" b="1">
                <a:latin typeface="Roboto" charset="0"/>
                <a:ea typeface="Roboto" charset="0"/>
                <a:cs typeface="Roboto" charset="0"/>
              </a:rPr>
              <a:t>Materials &amp; methods</a:t>
            </a:r>
          </a:p>
        </p:txBody>
      </p:sp>
      <p:sp>
        <p:nvSpPr>
          <p:cNvPr id="46" name="Text Box 233"/>
          <p:cNvSpPr txBox="1">
            <a:spLocks noChangeArrowheads="1"/>
          </p:cNvSpPr>
          <p:nvPr/>
        </p:nvSpPr>
        <p:spPr bwMode="auto">
          <a:xfrm>
            <a:off x="15006639" y="18809593"/>
            <a:ext cx="14880452" cy="419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306208" tIns="30317" rIns="306208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pPr marL="419115" indent="-419115" algn="just" defTabSz="2645070">
              <a:lnSpc>
                <a:spcPts val="3579"/>
              </a:lnSpc>
              <a:buSzPct val="125000"/>
              <a:buFont typeface="Wingdings" charset="2"/>
              <a:buChar char="§"/>
            </a:pPr>
            <a:r>
              <a:rPr lang="en-GB" altLang="en-US" sz="2800" b="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Q</a:t>
            </a: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 is the number of true aligned pairs divided by total number of observed aligned pairs in the superposition</a:t>
            </a:r>
          </a:p>
          <a:p>
            <a:pPr marL="419115" indent="-419115" algn="just" defTabSz="2645070">
              <a:lnSpc>
                <a:spcPts val="3579"/>
              </a:lnSpc>
              <a:buSzPct val="125000"/>
              <a:buFont typeface="Wingdings" charset="2"/>
              <a:buChar char="§"/>
            </a:pP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For each pairwise alignment, the amino acid and DSSP [2, 4] distances were estimated</a:t>
            </a:r>
          </a:p>
          <a:p>
            <a:pPr marL="419115" indent="-419115" algn="just" defTabSz="2645070">
              <a:lnSpc>
                <a:spcPts val="3579"/>
              </a:lnSpc>
              <a:buSzPct val="125000"/>
              <a:buFont typeface="Wingdings" charset="2"/>
              <a:buChar char="§"/>
            </a:pP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The Pearson’s correlation coefficient (PCC) were calculated between all pairwise alignments and superpositions</a:t>
            </a:r>
          </a:p>
          <a:p>
            <a:pPr marL="419115" indent="-419115" algn="just" defTabSz="2645070">
              <a:lnSpc>
                <a:spcPts val="3579"/>
              </a:lnSpc>
              <a:buSzPct val="125000"/>
              <a:buFont typeface="Wingdings" charset="2"/>
              <a:buChar char="§"/>
            </a:pP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The MODEL60 improves the pairwise alignment in terms of Q and the PCCs.</a:t>
            </a:r>
          </a:p>
          <a:p>
            <a:pPr marL="419115" indent="-419115" algn="just" defTabSz="2645070">
              <a:lnSpc>
                <a:spcPts val="3579"/>
              </a:lnSpc>
              <a:buSzPct val="125000"/>
              <a:buFont typeface="Wingdings" charset="2"/>
              <a:buChar char="§"/>
            </a:pP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We selected a representative pairwise alignment for each family to build 1,050 models by comparative modelling. MODEL60 improves 57% of models by QMEAN (qualitative model energy analysis) [3] scores.</a:t>
            </a:r>
          </a:p>
        </p:txBody>
      </p:sp>
      <p:sp>
        <p:nvSpPr>
          <p:cNvPr id="65" name="Text Box 229"/>
          <p:cNvSpPr txBox="1">
            <a:spLocks noChangeArrowheads="1"/>
          </p:cNvSpPr>
          <p:nvPr/>
        </p:nvSpPr>
        <p:spPr bwMode="auto">
          <a:xfrm>
            <a:off x="4589739" y="34369928"/>
            <a:ext cx="2880320" cy="48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280670" tIns="30317" rIns="280670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r>
              <a:rPr lang="en-GB" altLang="en-US" sz="2800" dirty="0">
                <a:uFill>
                  <a:solidFill>
                    <a:schemeClr val="tx1"/>
                  </a:solidFill>
                </a:uFill>
                <a:latin typeface="Roboto" charset="0"/>
                <a:ea typeface="Roboto" charset="0"/>
                <a:cs typeface="Roboto" charset="0"/>
              </a:rPr>
              <a:t>DSSP model</a:t>
            </a:r>
          </a:p>
        </p:txBody>
      </p:sp>
      <p:sp>
        <p:nvSpPr>
          <p:cNvPr id="66" name="Text Box 229"/>
          <p:cNvSpPr txBox="1">
            <a:spLocks noChangeArrowheads="1"/>
          </p:cNvSpPr>
          <p:nvPr/>
        </p:nvSpPr>
        <p:spPr bwMode="auto">
          <a:xfrm>
            <a:off x="22440739" y="34454266"/>
            <a:ext cx="3554412" cy="501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280670" tIns="30317" rIns="280670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r>
              <a:rPr lang="en-GB" altLang="en-US" sz="2800" dirty="0">
                <a:uFill>
                  <a:solidFill>
                    <a:schemeClr val="tx1"/>
                  </a:solidFill>
                </a:uFill>
                <a:latin typeface="Roboto" charset="0"/>
                <a:ea typeface="Roboto" charset="0"/>
                <a:cs typeface="Roboto" charset="0"/>
              </a:rPr>
              <a:t>Amino acid model</a:t>
            </a:r>
            <a:endParaRPr lang="en-GB" altLang="en-US" sz="2677" dirty="0">
              <a:uFill>
                <a:solidFill>
                  <a:schemeClr val="tx1"/>
                </a:solidFill>
              </a:u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620B7527-04B5-1B48-A590-02F7CF766A82}"/>
              </a:ext>
            </a:extLst>
          </p:cNvPr>
          <p:cNvSpPr/>
          <p:nvPr/>
        </p:nvSpPr>
        <p:spPr>
          <a:xfrm>
            <a:off x="15353630" y="36163521"/>
            <a:ext cx="5366899" cy="705373"/>
          </a:xfrm>
          <a:prstGeom prst="flowChartProcess">
            <a:avLst/>
          </a:prstGeom>
          <a:solidFill>
            <a:srgbClr val="0070C0"/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33" b="1">
                <a:latin typeface="Roboto" charset="0"/>
                <a:ea typeface="Roboto" charset="0"/>
                <a:cs typeface="Roboto" charset="0"/>
              </a:rPr>
              <a:t>References</a:t>
            </a:r>
          </a:p>
        </p:txBody>
      </p:sp>
      <p:sp>
        <p:nvSpPr>
          <p:cNvPr id="74" name="Text Box 233">
            <a:extLst>
              <a:ext uri="{FF2B5EF4-FFF2-40B4-BE49-F238E27FC236}">
                <a16:creationId xmlns:a16="http://schemas.microsoft.com/office/drawing/2014/main" id="{94B14F00-5EAD-5343-9B21-12A92EC29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82" y="19920295"/>
            <a:ext cx="14330764" cy="335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306208" tIns="30317" rIns="306208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pPr marL="419115" indent="-419115" algn="just" defTabSz="2645070">
              <a:lnSpc>
                <a:spcPts val="3670"/>
              </a:lnSpc>
              <a:buSzPct val="125000"/>
              <a:buFont typeface="Wingdings" charset="2"/>
              <a:buChar char="§"/>
            </a:pP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The 60-state substitution matrix at the evolutionary distance 2.50 (upper) of the MODEL60 is used to conduct pairwise alignments.</a:t>
            </a:r>
          </a:p>
          <a:p>
            <a:pPr marL="419115" indent="-419115" algn="just" defTabSz="2645070">
              <a:lnSpc>
                <a:spcPts val="3670"/>
              </a:lnSpc>
              <a:buSzPct val="125000"/>
              <a:buFont typeface="Wingdings" charset="2"/>
              <a:buChar char="§"/>
            </a:pPr>
            <a:r>
              <a:rPr lang="en-GB" altLang="en-US" sz="2800" b="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The sub-substitution matrices can be considered as amino acid exchanges conditioned to predicted secondary structure states [1], i.e., the amino acid changes conditioned to the same beta-sheet (E) formation (left top) and conditioned from helical (H) formation to beta-sheet formation (left middle). The label “L” stands for the loop region.</a:t>
            </a:r>
          </a:p>
        </p:txBody>
      </p:sp>
      <p:sp>
        <p:nvSpPr>
          <p:cNvPr id="77" name="Text Box 229">
            <a:extLst>
              <a:ext uri="{FF2B5EF4-FFF2-40B4-BE49-F238E27FC236}">
                <a16:creationId xmlns:a16="http://schemas.microsoft.com/office/drawing/2014/main" id="{F4CE9CD7-6503-CB4D-8E4C-DC929DC8B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1969" y="34430831"/>
            <a:ext cx="2442520" cy="49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280670" tIns="30317" rIns="280670" bIns="3031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charset="0"/>
              </a:defRPr>
            </a:lvl9pPr>
          </a:lstStyle>
          <a:p>
            <a:r>
              <a:rPr lang="en-GB" altLang="en-US" sz="2800" dirty="0">
                <a:uFill>
                  <a:solidFill>
                    <a:schemeClr val="tx1"/>
                  </a:solidFill>
                </a:uFill>
                <a:latin typeface="Roboto" charset="0"/>
                <a:ea typeface="Roboto" charset="0"/>
                <a:cs typeface="Roboto" charset="0"/>
              </a:rPr>
              <a:t>MODEL60</a:t>
            </a:r>
            <a:endParaRPr lang="en-GB" altLang="en-US" sz="2677" dirty="0">
              <a:uFill>
                <a:solidFill>
                  <a:schemeClr val="tx1"/>
                </a:solidFill>
              </a:u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5B481-4CE3-804C-87A3-287D42943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75" y="23706137"/>
            <a:ext cx="8245784" cy="106425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F47BC8-8207-D34E-A578-5B34EB86A8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2750" y="23819938"/>
            <a:ext cx="14194533" cy="10383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64DA3E-CE50-F144-8E6A-A637D3C6A6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46118" y="23922564"/>
            <a:ext cx="9975245" cy="1071838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6429A60-24C5-3341-BC3D-75E031DB4F0F}"/>
              </a:ext>
            </a:extLst>
          </p:cNvPr>
          <p:cNvSpPr txBox="1"/>
          <p:nvPr/>
        </p:nvSpPr>
        <p:spPr>
          <a:xfrm>
            <a:off x="7470059" y="32755257"/>
            <a:ext cx="25271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mammalian TIR</a:t>
            </a:r>
          </a:p>
          <a:p>
            <a:r>
              <a:rPr lang="en-GB" sz="2000" dirty="0">
                <a:solidFill>
                  <a:srgbClr val="8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bacterial TIR</a:t>
            </a:r>
          </a:p>
          <a:p>
            <a:r>
              <a:rPr lang="en-GB" sz="2000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plant TIR</a:t>
            </a:r>
          </a:p>
          <a:p>
            <a:r>
              <a:rPr lang="en-GB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enzyme</a:t>
            </a:r>
          </a:p>
          <a:p>
            <a:r>
              <a:rPr lang="en-GB" sz="2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enzyme regulator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1B8AF7-2FDD-2C42-A10B-6C974A56E6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147" y="9854978"/>
            <a:ext cx="14561165" cy="101106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DBD6BB-4D92-7440-A557-44C6F3D893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80219" y="9951189"/>
            <a:ext cx="14247019" cy="4562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674C44-1450-4C47-A69D-A34E5C9A97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30625" y="14735121"/>
            <a:ext cx="7155853" cy="39140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E4F944-9E73-4A46-9E4E-0F844C4A15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05744" y="14764651"/>
            <a:ext cx="7393502" cy="404494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8786AC0-35AE-C94A-A535-572946CABD21}"/>
              </a:ext>
            </a:extLst>
          </p:cNvPr>
          <p:cNvSpPr/>
          <p:nvPr/>
        </p:nvSpPr>
        <p:spPr>
          <a:xfrm>
            <a:off x="8714176" y="34733987"/>
            <a:ext cx="15888610" cy="1451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19115" indent="-419115" algn="just" defTabSz="2645070">
              <a:lnSpc>
                <a:spcPts val="3579"/>
              </a:lnSpc>
              <a:buSzPct val="125000"/>
              <a:buFont typeface="Wingdings" charset="2"/>
              <a:buChar char="§"/>
            </a:pPr>
            <a:r>
              <a:rPr lang="en-GB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All trees were inferred from the same multiple alignment (multiple structural superpositions).</a:t>
            </a:r>
          </a:p>
          <a:p>
            <a:pPr marL="419115" indent="-419115" algn="just" defTabSz="2645070">
              <a:lnSpc>
                <a:spcPts val="3579"/>
              </a:lnSpc>
              <a:buSzPct val="125000"/>
              <a:buFont typeface="Wingdings" charset="2"/>
              <a:buChar char="§"/>
            </a:pPr>
            <a:r>
              <a:rPr lang="en-GB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Significant Gene Ontology terms were determined for each possible sub tree at the e-value 0.05.</a:t>
            </a:r>
          </a:p>
          <a:p>
            <a:pPr marL="419115" indent="-419115" algn="just" defTabSz="2645070">
              <a:lnSpc>
                <a:spcPts val="3579"/>
              </a:lnSpc>
              <a:buSzPct val="125000"/>
              <a:buFont typeface="Wingdings" charset="2"/>
              <a:buChar char="§"/>
            </a:pPr>
            <a:r>
              <a:rPr lang="en-GB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charset="0"/>
                <a:ea typeface="Roboto" charset="0"/>
                <a:cs typeface="Roboto" charset="0"/>
              </a:rPr>
              <a:t>The tree based on DSSP (left) and amino acid (right) are from our previous work [4]</a:t>
            </a:r>
          </a:p>
        </p:txBody>
      </p:sp>
    </p:spTree>
    <p:extLst>
      <p:ext uri="{BB962C8B-B14F-4D97-AF65-F5344CB8AC3E}">
        <p14:creationId xmlns:p14="http://schemas.microsoft.com/office/powerpoint/2010/main" val="283923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4686</TotalTime>
  <Words>761</Words>
  <Application>Microsoft Macintosh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Roboto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Jhih-Siang Lai</dc:creator>
  <cp:lastModifiedBy>Jhih-Siang Lai</cp:lastModifiedBy>
  <cp:revision>680</cp:revision>
  <cp:lastPrinted>2019-07-10T14:23:50Z</cp:lastPrinted>
  <dcterms:created xsi:type="dcterms:W3CDTF">2016-09-28T01:31:06Z</dcterms:created>
  <dcterms:modified xsi:type="dcterms:W3CDTF">2019-07-13T13:55:00Z</dcterms:modified>
</cp:coreProperties>
</file>