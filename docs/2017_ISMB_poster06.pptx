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
  </p:notesMasterIdLst>
  <p:handoutMasterIdLst>
    <p:handoutMasterId r:id="rId4"/>
  </p:handoutMasterIdLst>
  <p:sldIdLst>
    <p:sldId id="261" r:id="rId2"/>
  </p:sldIdLst>
  <p:sldSz cx="33012063" cy="46691550"/>
  <p:notesSz cx="6858000" cy="9144000"/>
  <p:defaultTextStyle>
    <a:defPPr>
      <a:defRPr lang="en-US"/>
    </a:defPPr>
    <a:lvl1pPr marL="0" algn="l" defTabSz="3041816" rtl="0" eaLnBrk="1" latinLnBrk="0" hangingPunct="1">
      <a:defRPr sz="5988" kern="1200">
        <a:solidFill>
          <a:schemeClr val="tx1"/>
        </a:solidFill>
        <a:latin typeface="+mn-lt"/>
        <a:ea typeface="+mn-ea"/>
        <a:cs typeface="+mn-cs"/>
      </a:defRPr>
    </a:lvl1pPr>
    <a:lvl2pPr marL="1520907" algn="l" defTabSz="3041816" rtl="0" eaLnBrk="1" latinLnBrk="0" hangingPunct="1">
      <a:defRPr sz="5988" kern="1200">
        <a:solidFill>
          <a:schemeClr val="tx1"/>
        </a:solidFill>
        <a:latin typeface="+mn-lt"/>
        <a:ea typeface="+mn-ea"/>
        <a:cs typeface="+mn-cs"/>
      </a:defRPr>
    </a:lvl2pPr>
    <a:lvl3pPr marL="3041816" algn="l" defTabSz="3041816" rtl="0" eaLnBrk="1" latinLnBrk="0" hangingPunct="1">
      <a:defRPr sz="5988" kern="1200">
        <a:solidFill>
          <a:schemeClr val="tx1"/>
        </a:solidFill>
        <a:latin typeface="+mn-lt"/>
        <a:ea typeface="+mn-ea"/>
        <a:cs typeface="+mn-cs"/>
      </a:defRPr>
    </a:lvl3pPr>
    <a:lvl4pPr marL="4562723" algn="l" defTabSz="3041816" rtl="0" eaLnBrk="1" latinLnBrk="0" hangingPunct="1">
      <a:defRPr sz="5988" kern="1200">
        <a:solidFill>
          <a:schemeClr val="tx1"/>
        </a:solidFill>
        <a:latin typeface="+mn-lt"/>
        <a:ea typeface="+mn-ea"/>
        <a:cs typeface="+mn-cs"/>
      </a:defRPr>
    </a:lvl4pPr>
    <a:lvl5pPr marL="6083631" algn="l" defTabSz="3041816" rtl="0" eaLnBrk="1" latinLnBrk="0" hangingPunct="1">
      <a:defRPr sz="5988" kern="1200">
        <a:solidFill>
          <a:schemeClr val="tx1"/>
        </a:solidFill>
        <a:latin typeface="+mn-lt"/>
        <a:ea typeface="+mn-ea"/>
        <a:cs typeface="+mn-cs"/>
      </a:defRPr>
    </a:lvl5pPr>
    <a:lvl6pPr marL="7604538" algn="l" defTabSz="3041816" rtl="0" eaLnBrk="1" latinLnBrk="0" hangingPunct="1">
      <a:defRPr sz="5988" kern="1200">
        <a:solidFill>
          <a:schemeClr val="tx1"/>
        </a:solidFill>
        <a:latin typeface="+mn-lt"/>
        <a:ea typeface="+mn-ea"/>
        <a:cs typeface="+mn-cs"/>
      </a:defRPr>
    </a:lvl6pPr>
    <a:lvl7pPr marL="9125446" algn="l" defTabSz="3041816" rtl="0" eaLnBrk="1" latinLnBrk="0" hangingPunct="1">
      <a:defRPr sz="5988" kern="1200">
        <a:solidFill>
          <a:schemeClr val="tx1"/>
        </a:solidFill>
        <a:latin typeface="+mn-lt"/>
        <a:ea typeface="+mn-ea"/>
        <a:cs typeface="+mn-cs"/>
      </a:defRPr>
    </a:lvl7pPr>
    <a:lvl8pPr marL="10646353" algn="l" defTabSz="3041816" rtl="0" eaLnBrk="1" latinLnBrk="0" hangingPunct="1">
      <a:defRPr sz="5988" kern="1200">
        <a:solidFill>
          <a:schemeClr val="tx1"/>
        </a:solidFill>
        <a:latin typeface="+mn-lt"/>
        <a:ea typeface="+mn-ea"/>
        <a:cs typeface="+mn-cs"/>
      </a:defRPr>
    </a:lvl8pPr>
    <a:lvl9pPr marL="12167261" algn="l" defTabSz="3041816" rtl="0" eaLnBrk="1" latinLnBrk="0" hangingPunct="1">
      <a:defRPr sz="5988" kern="1200">
        <a:solidFill>
          <a:schemeClr val="tx1"/>
        </a:solidFill>
        <a:latin typeface="+mn-lt"/>
        <a:ea typeface="+mn-ea"/>
        <a:cs typeface="+mn-cs"/>
      </a:defRPr>
    </a:lvl9pPr>
  </p:defaultTextStyle>
  <p:extLst>
    <p:ext uri="{EFAFB233-063F-42B5-8137-9DF3F51BA10A}">
      <p15:sldGuideLst xmlns:p15="http://schemas.microsoft.com/office/powerpoint/2012/main">
        <p15:guide id="1" pos="10307" userDrawn="1">
          <p15:clr>
            <a:srgbClr val="000000"/>
          </p15:clr>
        </p15:guide>
        <p15:guide id="3" pos="10488" userDrawn="1">
          <p15:clr>
            <a:srgbClr val="000000"/>
          </p15:clr>
        </p15:guide>
        <p15:guide id="4" orient="horz" pos="29130" userDrawn="1">
          <p15:clr>
            <a:srgbClr val="000000"/>
          </p15:clr>
        </p15:guide>
        <p15:guide id="5" orient="horz" pos="2640" userDrawn="1">
          <p15:clr>
            <a:srgbClr val="000000"/>
          </p15:clr>
        </p15:guide>
        <p15:guide id="6" orient="horz" pos="2414" userDrawn="1">
          <p15:clr>
            <a:srgbClr val="000000"/>
          </p15:clr>
        </p15:guide>
        <p15:guide id="7" pos="237" userDrawn="1">
          <p15:clr>
            <a:srgbClr val="000000"/>
          </p15:clr>
        </p15:guide>
        <p15:guide id="8" pos="20558" userDrawn="1">
          <p15:clr>
            <a:srgbClr val="000000"/>
          </p15:clr>
        </p15:guide>
        <p15:guide id="9" pos="464" userDrawn="1">
          <p15:clr>
            <a:srgbClr val="000000"/>
          </p15:clr>
        </p15:guide>
        <p15:guide id="10" pos="10715" userDrawn="1">
          <p15:clr>
            <a:srgbClr val="A4A3A4"/>
          </p15:clr>
        </p15:guide>
        <p15:guide id="11" orient="horz" pos="25456" userDrawn="1">
          <p15:clr>
            <a:srgbClr val="C35EA4"/>
          </p15:clr>
        </p15:guide>
        <p15:guide id="12" orient="horz" pos="25365" userDrawn="1">
          <p15:clr>
            <a:srgbClr val="C35EA4"/>
          </p15:clr>
        </p15:guide>
        <p15:guide id="13" orient="horz" pos="6042" userDrawn="1">
          <p15:clr>
            <a:srgbClr val="A4A3A4"/>
          </p15:clr>
        </p15:guide>
        <p15:guide id="14" orient="horz" pos="6133" userDrawn="1">
          <p15:clr>
            <a:srgbClr val="A4A3A4"/>
          </p15:clr>
        </p15:guide>
        <p15:guide id="15" orient="horz" pos="25093" userDrawn="1">
          <p15:clr>
            <a:srgbClr val="F26B43"/>
          </p15:clr>
        </p15:guide>
        <p15:guide id="16" orient="horz" pos="25003" userDrawn="1">
          <p15:clr>
            <a:srgbClr val="F26B43"/>
          </p15:clr>
        </p15:guide>
        <p15:guide id="17" orient="horz" pos="5906" userDrawn="1">
          <p15:clr>
            <a:srgbClr val="A4A3A4"/>
          </p15:clr>
        </p15:guide>
        <p15:guide id="18" orient="horz" pos="23778" userDrawn="1">
          <p15:clr>
            <a:srgbClr val="A4A3A4"/>
          </p15:clr>
        </p15:guide>
        <p15:guide id="19" orient="horz" pos="252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90F6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56"/>
    <p:restoredTop sz="86395"/>
  </p:normalViewPr>
  <p:slideViewPr>
    <p:cSldViewPr snapToObjects="1">
      <p:cViewPr>
        <p:scale>
          <a:sx n="66" d="100"/>
          <a:sy n="66" d="100"/>
        </p:scale>
        <p:origin x="-1096" y="-9816"/>
      </p:cViewPr>
      <p:guideLst>
        <p:guide pos="10307"/>
        <p:guide pos="10488"/>
        <p:guide orient="horz" pos="29130"/>
        <p:guide orient="horz" pos="2640"/>
        <p:guide orient="horz" pos="2414"/>
        <p:guide pos="237"/>
        <p:guide pos="20558"/>
        <p:guide pos="464"/>
        <p:guide pos="10715"/>
        <p:guide orient="horz" pos="25456"/>
        <p:guide orient="horz" pos="25365"/>
        <p:guide orient="horz" pos="6042"/>
        <p:guide orient="horz" pos="6133"/>
        <p:guide orient="horz" pos="25093"/>
        <p:guide orient="horz" pos="25003"/>
        <p:guide orient="horz" pos="5906"/>
        <p:guide orient="horz" pos="23778"/>
        <p:guide orient="horz" pos="25229"/>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243FBCE9-8CD1-E94C-B66D-03286ACDAFAD}" type="datetimeFigureOut">
              <a:rPr lang="en-US" smtClean="0"/>
              <a:t>7/12/17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727873-FB29-6643-B716-45FDCC0887C4}" type="slidenum">
              <a:rPr lang="en-US" smtClean="0"/>
              <a:t>‹#›</a:t>
            </a:fld>
            <a:endParaRPr lang="en-US"/>
          </a:p>
        </p:txBody>
      </p:sp>
    </p:spTree>
    <p:extLst>
      <p:ext uri="{BB962C8B-B14F-4D97-AF65-F5344CB8AC3E}">
        <p14:creationId xmlns:p14="http://schemas.microsoft.com/office/powerpoint/2010/main" val="154775426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88D67B07-09BE-B845-9059-2B64BC42C6A7}" type="datetimeFigureOut">
              <a:rPr lang="en-US" smtClean="0"/>
              <a:t>7/12/17</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B2B9BA-3F14-8749-AE66-A9B6123ABE7D}" type="slidenum">
              <a:rPr lang="en-US" smtClean="0"/>
              <a:t>‹#›</a:t>
            </a:fld>
            <a:endParaRPr lang="en-US"/>
          </a:p>
        </p:txBody>
      </p:sp>
    </p:spTree>
    <p:extLst>
      <p:ext uri="{BB962C8B-B14F-4D97-AF65-F5344CB8AC3E}">
        <p14:creationId xmlns:p14="http://schemas.microsoft.com/office/powerpoint/2010/main" val="643732139"/>
      </p:ext>
    </p:extLst>
  </p:cSld>
  <p:clrMap bg1="lt1" tx1="dk1" bg2="lt2" tx2="dk2" accent1="accent1" accent2="accent2" accent3="accent3" accent4="accent4" accent5="accent5" accent6="accent6" hlink="hlink" folHlink="folHlink"/>
  <p:hf sldNum="0" hdr="0" ftr="0" dt="0"/>
  <p:notesStyle>
    <a:lvl1pPr marL="0" algn="l" defTabSz="3041816" rtl="0" eaLnBrk="1" latinLnBrk="0" hangingPunct="1">
      <a:defRPr sz="3991" kern="1200">
        <a:solidFill>
          <a:schemeClr val="tx1"/>
        </a:solidFill>
        <a:latin typeface="+mn-lt"/>
        <a:ea typeface="+mn-ea"/>
        <a:cs typeface="+mn-cs"/>
      </a:defRPr>
    </a:lvl1pPr>
    <a:lvl2pPr marL="1520907" algn="l" defTabSz="3041816" rtl="0" eaLnBrk="1" latinLnBrk="0" hangingPunct="1">
      <a:defRPr sz="3991" kern="1200">
        <a:solidFill>
          <a:schemeClr val="tx1"/>
        </a:solidFill>
        <a:latin typeface="+mn-lt"/>
        <a:ea typeface="+mn-ea"/>
        <a:cs typeface="+mn-cs"/>
      </a:defRPr>
    </a:lvl2pPr>
    <a:lvl3pPr marL="3041816" algn="l" defTabSz="3041816" rtl="0" eaLnBrk="1" latinLnBrk="0" hangingPunct="1">
      <a:defRPr sz="3991" kern="1200">
        <a:solidFill>
          <a:schemeClr val="tx1"/>
        </a:solidFill>
        <a:latin typeface="+mn-lt"/>
        <a:ea typeface="+mn-ea"/>
        <a:cs typeface="+mn-cs"/>
      </a:defRPr>
    </a:lvl3pPr>
    <a:lvl4pPr marL="4562723" algn="l" defTabSz="3041816" rtl="0" eaLnBrk="1" latinLnBrk="0" hangingPunct="1">
      <a:defRPr sz="3991" kern="1200">
        <a:solidFill>
          <a:schemeClr val="tx1"/>
        </a:solidFill>
        <a:latin typeface="+mn-lt"/>
        <a:ea typeface="+mn-ea"/>
        <a:cs typeface="+mn-cs"/>
      </a:defRPr>
    </a:lvl4pPr>
    <a:lvl5pPr marL="6083631" algn="l" defTabSz="3041816" rtl="0" eaLnBrk="1" latinLnBrk="0" hangingPunct="1">
      <a:defRPr sz="3991" kern="1200">
        <a:solidFill>
          <a:schemeClr val="tx1"/>
        </a:solidFill>
        <a:latin typeface="+mn-lt"/>
        <a:ea typeface="+mn-ea"/>
        <a:cs typeface="+mn-cs"/>
      </a:defRPr>
    </a:lvl5pPr>
    <a:lvl6pPr marL="7604538" algn="l" defTabSz="3041816" rtl="0" eaLnBrk="1" latinLnBrk="0" hangingPunct="1">
      <a:defRPr sz="3991" kern="1200">
        <a:solidFill>
          <a:schemeClr val="tx1"/>
        </a:solidFill>
        <a:latin typeface="+mn-lt"/>
        <a:ea typeface="+mn-ea"/>
        <a:cs typeface="+mn-cs"/>
      </a:defRPr>
    </a:lvl6pPr>
    <a:lvl7pPr marL="9125446" algn="l" defTabSz="3041816" rtl="0" eaLnBrk="1" latinLnBrk="0" hangingPunct="1">
      <a:defRPr sz="3991" kern="1200">
        <a:solidFill>
          <a:schemeClr val="tx1"/>
        </a:solidFill>
        <a:latin typeface="+mn-lt"/>
        <a:ea typeface="+mn-ea"/>
        <a:cs typeface="+mn-cs"/>
      </a:defRPr>
    </a:lvl7pPr>
    <a:lvl8pPr marL="10646353" algn="l" defTabSz="3041816" rtl="0" eaLnBrk="1" latinLnBrk="0" hangingPunct="1">
      <a:defRPr sz="3991" kern="1200">
        <a:solidFill>
          <a:schemeClr val="tx1"/>
        </a:solidFill>
        <a:latin typeface="+mn-lt"/>
        <a:ea typeface="+mn-ea"/>
        <a:cs typeface="+mn-cs"/>
      </a:defRPr>
    </a:lvl8pPr>
    <a:lvl9pPr marL="12167261" algn="l" defTabSz="3041816" rtl="0" eaLnBrk="1" latinLnBrk="0" hangingPunct="1">
      <a:defRPr sz="399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331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75905" y="7641421"/>
            <a:ext cx="28060254" cy="16255577"/>
          </a:xfrm>
        </p:spPr>
        <p:txBody>
          <a:bodyPr anchor="b"/>
          <a:lstStyle>
            <a:lvl1pPr algn="ctr">
              <a:defRPr sz="21661"/>
            </a:lvl1pPr>
          </a:lstStyle>
          <a:p>
            <a:r>
              <a:rPr lang="en-US" smtClean="0"/>
              <a:t>Click to edit Master title style</a:t>
            </a:r>
            <a:endParaRPr lang="en-US" dirty="0"/>
          </a:p>
        </p:txBody>
      </p:sp>
      <p:sp>
        <p:nvSpPr>
          <p:cNvPr id="3" name="Subtitle 2"/>
          <p:cNvSpPr>
            <a:spLocks noGrp="1"/>
          </p:cNvSpPr>
          <p:nvPr>
            <p:ph type="subTitle" idx="1"/>
          </p:nvPr>
        </p:nvSpPr>
        <p:spPr>
          <a:xfrm>
            <a:off x="4126508" y="24523875"/>
            <a:ext cx="24759047" cy="11272980"/>
          </a:xfrm>
        </p:spPr>
        <p:txBody>
          <a:bodyPr/>
          <a:lstStyle>
            <a:lvl1pPr marL="0" indent="0" algn="ctr">
              <a:buNone/>
              <a:defRPr sz="8664"/>
            </a:lvl1pPr>
            <a:lvl2pPr marL="1650583" indent="0" algn="ctr">
              <a:buNone/>
              <a:defRPr sz="7220"/>
            </a:lvl2pPr>
            <a:lvl3pPr marL="3301167" indent="0" algn="ctr">
              <a:buNone/>
              <a:defRPr sz="6498"/>
            </a:lvl3pPr>
            <a:lvl4pPr marL="4951750" indent="0" algn="ctr">
              <a:buNone/>
              <a:defRPr sz="5776"/>
            </a:lvl4pPr>
            <a:lvl5pPr marL="6602334" indent="0" algn="ctr">
              <a:buNone/>
              <a:defRPr sz="5776"/>
            </a:lvl5pPr>
            <a:lvl6pPr marL="8252917" indent="0" algn="ctr">
              <a:buNone/>
              <a:defRPr sz="5776"/>
            </a:lvl6pPr>
            <a:lvl7pPr marL="9903501" indent="0" algn="ctr">
              <a:buNone/>
              <a:defRPr sz="5776"/>
            </a:lvl7pPr>
            <a:lvl8pPr marL="11554084" indent="0" algn="ctr">
              <a:buNone/>
              <a:defRPr sz="5776"/>
            </a:lvl8pPr>
            <a:lvl9pPr marL="13204668" indent="0" algn="ctr">
              <a:buNone/>
              <a:defRPr sz="5776"/>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878F7B0-8F1E-D447-B392-10BCC54AAA2E}" type="datetimeFigureOut">
              <a:rPr lang="en-US" smtClean="0"/>
              <a:t>7/12/17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78F7B0-8F1E-D447-B392-10BCC54AAA2E}" type="datetimeFigureOut">
              <a:rPr lang="en-US" smtClean="0"/>
              <a:t>7/12/17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52388" y="11640477"/>
            <a:ext cx="28472904" cy="19422384"/>
          </a:xfrm>
        </p:spPr>
        <p:txBody>
          <a:bodyPr anchor="b"/>
          <a:lstStyle>
            <a:lvl1pPr>
              <a:defRPr sz="21661"/>
            </a:lvl1pPr>
          </a:lstStyle>
          <a:p>
            <a:r>
              <a:rPr lang="en-US" smtClean="0"/>
              <a:t>Click to edit Master title style</a:t>
            </a:r>
            <a:endParaRPr lang="en-US" dirty="0"/>
          </a:p>
        </p:txBody>
      </p:sp>
      <p:sp>
        <p:nvSpPr>
          <p:cNvPr id="3" name="Text Placeholder 2"/>
          <p:cNvSpPr>
            <a:spLocks noGrp="1"/>
          </p:cNvSpPr>
          <p:nvPr>
            <p:ph type="body" idx="1"/>
          </p:nvPr>
        </p:nvSpPr>
        <p:spPr>
          <a:xfrm>
            <a:off x="2252388" y="31246604"/>
            <a:ext cx="28472904" cy="10213773"/>
          </a:xfrm>
        </p:spPr>
        <p:txBody>
          <a:bodyPr/>
          <a:lstStyle>
            <a:lvl1pPr marL="0" indent="0">
              <a:buNone/>
              <a:defRPr sz="8664">
                <a:solidFill>
                  <a:schemeClr val="tx1"/>
                </a:solidFill>
              </a:defRPr>
            </a:lvl1pPr>
            <a:lvl2pPr marL="1650583" indent="0">
              <a:buNone/>
              <a:defRPr sz="7220">
                <a:solidFill>
                  <a:schemeClr val="tx1">
                    <a:tint val="75000"/>
                  </a:schemeClr>
                </a:solidFill>
              </a:defRPr>
            </a:lvl2pPr>
            <a:lvl3pPr marL="3301167" indent="0">
              <a:buNone/>
              <a:defRPr sz="6498">
                <a:solidFill>
                  <a:schemeClr val="tx1">
                    <a:tint val="75000"/>
                  </a:schemeClr>
                </a:solidFill>
              </a:defRPr>
            </a:lvl3pPr>
            <a:lvl4pPr marL="4951750" indent="0">
              <a:buNone/>
              <a:defRPr sz="5776">
                <a:solidFill>
                  <a:schemeClr val="tx1">
                    <a:tint val="75000"/>
                  </a:schemeClr>
                </a:solidFill>
              </a:defRPr>
            </a:lvl4pPr>
            <a:lvl5pPr marL="6602334" indent="0">
              <a:buNone/>
              <a:defRPr sz="5776">
                <a:solidFill>
                  <a:schemeClr val="tx1">
                    <a:tint val="75000"/>
                  </a:schemeClr>
                </a:solidFill>
              </a:defRPr>
            </a:lvl5pPr>
            <a:lvl6pPr marL="8252917" indent="0">
              <a:buNone/>
              <a:defRPr sz="5776">
                <a:solidFill>
                  <a:schemeClr val="tx1">
                    <a:tint val="75000"/>
                  </a:schemeClr>
                </a:solidFill>
              </a:defRPr>
            </a:lvl6pPr>
            <a:lvl7pPr marL="9903501" indent="0">
              <a:buNone/>
              <a:defRPr sz="5776">
                <a:solidFill>
                  <a:schemeClr val="tx1">
                    <a:tint val="75000"/>
                  </a:schemeClr>
                </a:solidFill>
              </a:defRPr>
            </a:lvl7pPr>
            <a:lvl8pPr marL="11554084" indent="0">
              <a:buNone/>
              <a:defRPr sz="5776">
                <a:solidFill>
                  <a:schemeClr val="tx1">
                    <a:tint val="75000"/>
                  </a:schemeClr>
                </a:solidFill>
              </a:defRPr>
            </a:lvl8pPr>
            <a:lvl9pPr marL="13204668" indent="0">
              <a:buNone/>
              <a:defRPr sz="5776">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78F7B0-8F1E-D447-B392-10BCC54AAA2E}" type="datetimeFigureOut">
              <a:rPr lang="en-US" smtClean="0"/>
              <a:t>7/12/17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269579" y="12429463"/>
            <a:ext cx="14030127" cy="29625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6712357" y="12429463"/>
            <a:ext cx="14030127" cy="29625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878F7B0-8F1E-D447-B392-10BCC54AAA2E}" type="datetimeFigureOut">
              <a:rPr lang="en-US" smtClean="0"/>
              <a:t>7/12/17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73879" y="2485903"/>
            <a:ext cx="28472904" cy="902487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73883" y="11445918"/>
            <a:ext cx="13965648" cy="5609468"/>
          </a:xfrm>
        </p:spPr>
        <p:txBody>
          <a:bodyPr anchor="b"/>
          <a:lstStyle>
            <a:lvl1pPr marL="0" indent="0">
              <a:buNone/>
              <a:defRPr sz="8664" b="1"/>
            </a:lvl1pPr>
            <a:lvl2pPr marL="1650583" indent="0">
              <a:buNone/>
              <a:defRPr sz="7220" b="1"/>
            </a:lvl2pPr>
            <a:lvl3pPr marL="3301167" indent="0">
              <a:buNone/>
              <a:defRPr sz="6498" b="1"/>
            </a:lvl3pPr>
            <a:lvl4pPr marL="4951750" indent="0">
              <a:buNone/>
              <a:defRPr sz="5776" b="1"/>
            </a:lvl4pPr>
            <a:lvl5pPr marL="6602334" indent="0">
              <a:buNone/>
              <a:defRPr sz="5776" b="1"/>
            </a:lvl5pPr>
            <a:lvl6pPr marL="8252917" indent="0">
              <a:buNone/>
              <a:defRPr sz="5776" b="1"/>
            </a:lvl6pPr>
            <a:lvl7pPr marL="9903501" indent="0">
              <a:buNone/>
              <a:defRPr sz="5776" b="1"/>
            </a:lvl7pPr>
            <a:lvl8pPr marL="11554084" indent="0">
              <a:buNone/>
              <a:defRPr sz="5776" b="1"/>
            </a:lvl8pPr>
            <a:lvl9pPr marL="13204668" indent="0">
              <a:buNone/>
              <a:defRPr sz="5776" b="1"/>
            </a:lvl9pPr>
          </a:lstStyle>
          <a:p>
            <a:pPr lvl="0"/>
            <a:r>
              <a:rPr lang="en-US" smtClean="0"/>
              <a:t>Click to edit Master text styles</a:t>
            </a:r>
          </a:p>
        </p:txBody>
      </p:sp>
      <p:sp>
        <p:nvSpPr>
          <p:cNvPr id="4" name="Content Placeholder 3"/>
          <p:cNvSpPr>
            <a:spLocks noGrp="1"/>
          </p:cNvSpPr>
          <p:nvPr>
            <p:ph sz="half" idx="2"/>
          </p:nvPr>
        </p:nvSpPr>
        <p:spPr>
          <a:xfrm>
            <a:off x="2273883" y="17055386"/>
            <a:ext cx="13965648" cy="2508590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6712358" y="11445918"/>
            <a:ext cx="14034427" cy="5609468"/>
          </a:xfrm>
        </p:spPr>
        <p:txBody>
          <a:bodyPr anchor="b"/>
          <a:lstStyle>
            <a:lvl1pPr marL="0" indent="0">
              <a:buNone/>
              <a:defRPr sz="8664" b="1"/>
            </a:lvl1pPr>
            <a:lvl2pPr marL="1650583" indent="0">
              <a:buNone/>
              <a:defRPr sz="7220" b="1"/>
            </a:lvl2pPr>
            <a:lvl3pPr marL="3301167" indent="0">
              <a:buNone/>
              <a:defRPr sz="6498" b="1"/>
            </a:lvl3pPr>
            <a:lvl4pPr marL="4951750" indent="0">
              <a:buNone/>
              <a:defRPr sz="5776" b="1"/>
            </a:lvl4pPr>
            <a:lvl5pPr marL="6602334" indent="0">
              <a:buNone/>
              <a:defRPr sz="5776" b="1"/>
            </a:lvl5pPr>
            <a:lvl6pPr marL="8252917" indent="0">
              <a:buNone/>
              <a:defRPr sz="5776" b="1"/>
            </a:lvl6pPr>
            <a:lvl7pPr marL="9903501" indent="0">
              <a:buNone/>
              <a:defRPr sz="5776" b="1"/>
            </a:lvl7pPr>
            <a:lvl8pPr marL="11554084" indent="0">
              <a:buNone/>
              <a:defRPr sz="5776" b="1"/>
            </a:lvl8pPr>
            <a:lvl9pPr marL="13204668" indent="0">
              <a:buNone/>
              <a:defRPr sz="5776" b="1"/>
            </a:lvl9pPr>
          </a:lstStyle>
          <a:p>
            <a:pPr lvl="0"/>
            <a:r>
              <a:rPr lang="en-US" smtClean="0"/>
              <a:t>Click to edit Master text styles</a:t>
            </a:r>
          </a:p>
        </p:txBody>
      </p:sp>
      <p:sp>
        <p:nvSpPr>
          <p:cNvPr id="6" name="Content Placeholder 5"/>
          <p:cNvSpPr>
            <a:spLocks noGrp="1"/>
          </p:cNvSpPr>
          <p:nvPr>
            <p:ph sz="quarter" idx="4"/>
          </p:nvPr>
        </p:nvSpPr>
        <p:spPr>
          <a:xfrm>
            <a:off x="16712358" y="17055386"/>
            <a:ext cx="14034427" cy="2508590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878F7B0-8F1E-D447-B392-10BCC54AAA2E}" type="datetimeFigureOut">
              <a:rPr lang="en-US" smtClean="0"/>
              <a:t>7/12/17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878F7B0-8F1E-D447-B392-10BCC54AAA2E}" type="datetimeFigureOut">
              <a:rPr lang="en-US" smtClean="0"/>
              <a:t>7/12/17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78F7B0-8F1E-D447-B392-10BCC54AAA2E}" type="datetimeFigureOut">
              <a:rPr lang="en-US" smtClean="0"/>
              <a:t>7/12/17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73879" y="3112770"/>
            <a:ext cx="10647250" cy="10894695"/>
          </a:xfrm>
        </p:spPr>
        <p:txBody>
          <a:bodyPr anchor="b"/>
          <a:lstStyle>
            <a:lvl1pPr>
              <a:defRPr sz="11553"/>
            </a:lvl1pPr>
          </a:lstStyle>
          <a:p>
            <a:r>
              <a:rPr lang="en-US" smtClean="0"/>
              <a:t>Click to edit Master title style</a:t>
            </a:r>
            <a:endParaRPr lang="en-US" dirty="0"/>
          </a:p>
        </p:txBody>
      </p:sp>
      <p:sp>
        <p:nvSpPr>
          <p:cNvPr id="3" name="Content Placeholder 2"/>
          <p:cNvSpPr>
            <a:spLocks noGrp="1"/>
          </p:cNvSpPr>
          <p:nvPr>
            <p:ph idx="1"/>
          </p:nvPr>
        </p:nvSpPr>
        <p:spPr>
          <a:xfrm>
            <a:off x="14034427" y="6722729"/>
            <a:ext cx="16712357" cy="33181264"/>
          </a:xfrm>
        </p:spPr>
        <p:txBody>
          <a:bodyPr/>
          <a:lstStyle>
            <a:lvl1pPr>
              <a:defRPr sz="11553"/>
            </a:lvl1pPr>
            <a:lvl2pPr>
              <a:defRPr sz="10109"/>
            </a:lvl2pPr>
            <a:lvl3pPr>
              <a:defRPr sz="8664"/>
            </a:lvl3pPr>
            <a:lvl4pPr>
              <a:defRPr sz="7220"/>
            </a:lvl4pPr>
            <a:lvl5pPr>
              <a:defRPr sz="7220"/>
            </a:lvl5pPr>
            <a:lvl6pPr>
              <a:defRPr sz="7220"/>
            </a:lvl6pPr>
            <a:lvl7pPr>
              <a:defRPr sz="7220"/>
            </a:lvl7pPr>
            <a:lvl8pPr>
              <a:defRPr sz="7220"/>
            </a:lvl8pPr>
            <a:lvl9pPr>
              <a:defRPr sz="722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273879" y="14007465"/>
            <a:ext cx="10647250" cy="25950562"/>
          </a:xfrm>
        </p:spPr>
        <p:txBody>
          <a:bodyPr/>
          <a:lstStyle>
            <a:lvl1pPr marL="0" indent="0">
              <a:buNone/>
              <a:defRPr sz="5776"/>
            </a:lvl1pPr>
            <a:lvl2pPr marL="1650583" indent="0">
              <a:buNone/>
              <a:defRPr sz="5054"/>
            </a:lvl2pPr>
            <a:lvl3pPr marL="3301167" indent="0">
              <a:buNone/>
              <a:defRPr sz="4332"/>
            </a:lvl3pPr>
            <a:lvl4pPr marL="4951750" indent="0">
              <a:buNone/>
              <a:defRPr sz="3610"/>
            </a:lvl4pPr>
            <a:lvl5pPr marL="6602334" indent="0">
              <a:buNone/>
              <a:defRPr sz="3610"/>
            </a:lvl5pPr>
            <a:lvl6pPr marL="8252917" indent="0">
              <a:buNone/>
              <a:defRPr sz="3610"/>
            </a:lvl6pPr>
            <a:lvl7pPr marL="9903501" indent="0">
              <a:buNone/>
              <a:defRPr sz="3610"/>
            </a:lvl7pPr>
            <a:lvl8pPr marL="11554084" indent="0">
              <a:buNone/>
              <a:defRPr sz="3610"/>
            </a:lvl8pPr>
            <a:lvl9pPr marL="13204668" indent="0">
              <a:buNone/>
              <a:defRPr sz="361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78F7B0-8F1E-D447-B392-10BCC54AAA2E}" type="datetimeFigureOut">
              <a:rPr lang="en-US" smtClean="0"/>
              <a:t>7/12/17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73879" y="3112770"/>
            <a:ext cx="10647250" cy="10894695"/>
          </a:xfrm>
        </p:spPr>
        <p:txBody>
          <a:bodyPr anchor="b"/>
          <a:lstStyle>
            <a:lvl1pPr>
              <a:defRPr sz="11553"/>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4034427" y="6722729"/>
            <a:ext cx="16712357" cy="33181264"/>
          </a:xfrm>
        </p:spPr>
        <p:txBody>
          <a:bodyPr anchor="t"/>
          <a:lstStyle>
            <a:lvl1pPr marL="0" indent="0">
              <a:buNone/>
              <a:defRPr sz="11553"/>
            </a:lvl1pPr>
            <a:lvl2pPr marL="1650583" indent="0">
              <a:buNone/>
              <a:defRPr sz="10109"/>
            </a:lvl2pPr>
            <a:lvl3pPr marL="3301167" indent="0">
              <a:buNone/>
              <a:defRPr sz="8664"/>
            </a:lvl3pPr>
            <a:lvl4pPr marL="4951750" indent="0">
              <a:buNone/>
              <a:defRPr sz="7220"/>
            </a:lvl4pPr>
            <a:lvl5pPr marL="6602334" indent="0">
              <a:buNone/>
              <a:defRPr sz="7220"/>
            </a:lvl5pPr>
            <a:lvl6pPr marL="8252917" indent="0">
              <a:buNone/>
              <a:defRPr sz="7220"/>
            </a:lvl6pPr>
            <a:lvl7pPr marL="9903501" indent="0">
              <a:buNone/>
              <a:defRPr sz="7220"/>
            </a:lvl7pPr>
            <a:lvl8pPr marL="11554084" indent="0">
              <a:buNone/>
              <a:defRPr sz="7220"/>
            </a:lvl8pPr>
            <a:lvl9pPr marL="13204668" indent="0">
              <a:buNone/>
              <a:defRPr sz="722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2273879" y="14007465"/>
            <a:ext cx="10647250" cy="25950562"/>
          </a:xfrm>
        </p:spPr>
        <p:txBody>
          <a:bodyPr/>
          <a:lstStyle>
            <a:lvl1pPr marL="0" indent="0">
              <a:buNone/>
              <a:defRPr sz="5776"/>
            </a:lvl1pPr>
            <a:lvl2pPr marL="1650583" indent="0">
              <a:buNone/>
              <a:defRPr sz="5054"/>
            </a:lvl2pPr>
            <a:lvl3pPr marL="3301167" indent="0">
              <a:buNone/>
              <a:defRPr sz="4332"/>
            </a:lvl3pPr>
            <a:lvl4pPr marL="4951750" indent="0">
              <a:buNone/>
              <a:defRPr sz="3610"/>
            </a:lvl4pPr>
            <a:lvl5pPr marL="6602334" indent="0">
              <a:buNone/>
              <a:defRPr sz="3610"/>
            </a:lvl5pPr>
            <a:lvl6pPr marL="8252917" indent="0">
              <a:buNone/>
              <a:defRPr sz="3610"/>
            </a:lvl6pPr>
            <a:lvl7pPr marL="9903501" indent="0">
              <a:buNone/>
              <a:defRPr sz="3610"/>
            </a:lvl7pPr>
            <a:lvl8pPr marL="11554084" indent="0">
              <a:buNone/>
              <a:defRPr sz="3610"/>
            </a:lvl8pPr>
            <a:lvl9pPr marL="13204668" indent="0">
              <a:buNone/>
              <a:defRPr sz="361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78F7B0-8F1E-D447-B392-10BCC54AAA2E}" type="datetimeFigureOut">
              <a:rPr lang="en-US" smtClean="0"/>
              <a:t>7/12/17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78F7B0-8F1E-D447-B392-10BCC54AAA2E}" type="datetimeFigureOut">
              <a:rPr lang="en-US" smtClean="0"/>
              <a:t>7/12/17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624259" y="2485893"/>
            <a:ext cx="7118226" cy="3956893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69581" y="2485893"/>
            <a:ext cx="20942027" cy="3956893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78F7B0-8F1E-D447-B392-10BCC54AAA2E}" type="datetimeFigureOut">
              <a:rPr lang="en-US" smtClean="0"/>
              <a:t>7/12/17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CFF8D2-2747-8F40-A50F-72AE0F156AB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9580" y="2485903"/>
            <a:ext cx="28472904" cy="902487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69580" y="12429463"/>
            <a:ext cx="28472904" cy="2962536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269579" y="43276160"/>
            <a:ext cx="7427714" cy="2485893"/>
          </a:xfrm>
          <a:prstGeom prst="rect">
            <a:avLst/>
          </a:prstGeom>
        </p:spPr>
        <p:txBody>
          <a:bodyPr vert="horz" lIns="91440" tIns="45720" rIns="91440" bIns="45720" rtlCol="0" anchor="ctr"/>
          <a:lstStyle>
            <a:lvl1pPr algn="l">
              <a:defRPr sz="4332">
                <a:solidFill>
                  <a:schemeClr val="tx1">
                    <a:tint val="75000"/>
                  </a:schemeClr>
                </a:solidFill>
              </a:defRPr>
            </a:lvl1pPr>
          </a:lstStyle>
          <a:p>
            <a:fld id="{2878F7B0-8F1E-D447-B392-10BCC54AAA2E}" type="datetimeFigureOut">
              <a:rPr lang="en-US" smtClean="0"/>
              <a:t>7/12/17</a:t>
            </a:fld>
            <a:endParaRPr lang="en-US"/>
          </a:p>
        </p:txBody>
      </p:sp>
      <p:sp>
        <p:nvSpPr>
          <p:cNvPr id="5" name="Footer Placeholder 4"/>
          <p:cNvSpPr>
            <a:spLocks noGrp="1"/>
          </p:cNvSpPr>
          <p:nvPr>
            <p:ph type="ftr" sz="quarter" idx="3"/>
          </p:nvPr>
        </p:nvSpPr>
        <p:spPr>
          <a:xfrm>
            <a:off x="10935246" y="43276160"/>
            <a:ext cx="11141571" cy="2485893"/>
          </a:xfrm>
          <a:prstGeom prst="rect">
            <a:avLst/>
          </a:prstGeom>
        </p:spPr>
        <p:txBody>
          <a:bodyPr vert="horz" lIns="91440" tIns="45720" rIns="91440" bIns="45720" rtlCol="0" anchor="ctr"/>
          <a:lstStyle>
            <a:lvl1pPr algn="ctr">
              <a:defRPr sz="433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314770" y="43276160"/>
            <a:ext cx="7427714" cy="2485893"/>
          </a:xfrm>
          <a:prstGeom prst="rect">
            <a:avLst/>
          </a:prstGeom>
        </p:spPr>
        <p:txBody>
          <a:bodyPr vert="horz" lIns="91440" tIns="45720" rIns="91440" bIns="45720" rtlCol="0" anchor="ctr"/>
          <a:lstStyle>
            <a:lvl1pPr algn="r">
              <a:defRPr sz="4332">
                <a:solidFill>
                  <a:schemeClr val="tx1">
                    <a:tint val="75000"/>
                  </a:schemeClr>
                </a:solidFill>
              </a:defRPr>
            </a:lvl1pPr>
          </a:lstStyle>
          <a:p>
            <a:fld id="{C4CFF8D2-2747-8F40-A50F-72AE0F156ABC}" type="slidenum">
              <a:rPr lang="en-US" smtClean="0"/>
              <a:t>‹#›</a:t>
            </a:fld>
            <a:endParaRPr lang="en-US"/>
          </a:p>
        </p:txBody>
      </p:sp>
    </p:spTree>
    <p:extLst>
      <p:ext uri="{BB962C8B-B14F-4D97-AF65-F5344CB8AC3E}">
        <p14:creationId xmlns:p14="http://schemas.microsoft.com/office/powerpoint/2010/main" val="193558952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301167" rtl="0" eaLnBrk="1" latinLnBrk="0" hangingPunct="1">
        <a:lnSpc>
          <a:spcPct val="90000"/>
        </a:lnSpc>
        <a:spcBef>
          <a:spcPct val="0"/>
        </a:spcBef>
        <a:buNone/>
        <a:defRPr sz="15885" kern="1200">
          <a:solidFill>
            <a:schemeClr val="tx1"/>
          </a:solidFill>
          <a:latin typeface="+mj-lt"/>
          <a:ea typeface="+mj-ea"/>
          <a:cs typeface="+mj-cs"/>
        </a:defRPr>
      </a:lvl1pPr>
    </p:titleStyle>
    <p:bodyStyle>
      <a:lvl1pPr marL="825292" indent="-825292" algn="l" defTabSz="3301167" rtl="0" eaLnBrk="1" latinLnBrk="0" hangingPunct="1">
        <a:lnSpc>
          <a:spcPct val="90000"/>
        </a:lnSpc>
        <a:spcBef>
          <a:spcPts val="3610"/>
        </a:spcBef>
        <a:buFont typeface="Arial" panose="020B0604020202020204" pitchFamily="34" charset="0"/>
        <a:buChar char="•"/>
        <a:defRPr sz="10109" kern="1200">
          <a:solidFill>
            <a:schemeClr val="tx1"/>
          </a:solidFill>
          <a:latin typeface="+mn-lt"/>
          <a:ea typeface="+mn-ea"/>
          <a:cs typeface="+mn-cs"/>
        </a:defRPr>
      </a:lvl1pPr>
      <a:lvl2pPr marL="2475875" indent="-825292" algn="l" defTabSz="3301167" rtl="0" eaLnBrk="1" latinLnBrk="0" hangingPunct="1">
        <a:lnSpc>
          <a:spcPct val="90000"/>
        </a:lnSpc>
        <a:spcBef>
          <a:spcPts val="1805"/>
        </a:spcBef>
        <a:buFont typeface="Arial" panose="020B0604020202020204" pitchFamily="34" charset="0"/>
        <a:buChar char="•"/>
        <a:defRPr sz="8664" kern="1200">
          <a:solidFill>
            <a:schemeClr val="tx1"/>
          </a:solidFill>
          <a:latin typeface="+mn-lt"/>
          <a:ea typeface="+mn-ea"/>
          <a:cs typeface="+mn-cs"/>
        </a:defRPr>
      </a:lvl2pPr>
      <a:lvl3pPr marL="4126459" indent="-825292" algn="l" defTabSz="3301167" rtl="0" eaLnBrk="1" latinLnBrk="0" hangingPunct="1">
        <a:lnSpc>
          <a:spcPct val="90000"/>
        </a:lnSpc>
        <a:spcBef>
          <a:spcPts val="1805"/>
        </a:spcBef>
        <a:buFont typeface="Arial" panose="020B0604020202020204" pitchFamily="34" charset="0"/>
        <a:buChar char="•"/>
        <a:defRPr sz="7220" kern="1200">
          <a:solidFill>
            <a:schemeClr val="tx1"/>
          </a:solidFill>
          <a:latin typeface="+mn-lt"/>
          <a:ea typeface="+mn-ea"/>
          <a:cs typeface="+mn-cs"/>
        </a:defRPr>
      </a:lvl3pPr>
      <a:lvl4pPr marL="5777042" indent="-825292" algn="l" defTabSz="3301167" rtl="0" eaLnBrk="1" latinLnBrk="0" hangingPunct="1">
        <a:lnSpc>
          <a:spcPct val="90000"/>
        </a:lnSpc>
        <a:spcBef>
          <a:spcPts val="1805"/>
        </a:spcBef>
        <a:buFont typeface="Arial" panose="020B0604020202020204" pitchFamily="34" charset="0"/>
        <a:buChar char="•"/>
        <a:defRPr sz="6498" kern="1200">
          <a:solidFill>
            <a:schemeClr val="tx1"/>
          </a:solidFill>
          <a:latin typeface="+mn-lt"/>
          <a:ea typeface="+mn-ea"/>
          <a:cs typeface="+mn-cs"/>
        </a:defRPr>
      </a:lvl4pPr>
      <a:lvl5pPr marL="7427625" indent="-825292" algn="l" defTabSz="3301167" rtl="0" eaLnBrk="1" latinLnBrk="0" hangingPunct="1">
        <a:lnSpc>
          <a:spcPct val="90000"/>
        </a:lnSpc>
        <a:spcBef>
          <a:spcPts val="1805"/>
        </a:spcBef>
        <a:buFont typeface="Arial" panose="020B0604020202020204" pitchFamily="34" charset="0"/>
        <a:buChar char="•"/>
        <a:defRPr sz="6498" kern="1200">
          <a:solidFill>
            <a:schemeClr val="tx1"/>
          </a:solidFill>
          <a:latin typeface="+mn-lt"/>
          <a:ea typeface="+mn-ea"/>
          <a:cs typeface="+mn-cs"/>
        </a:defRPr>
      </a:lvl5pPr>
      <a:lvl6pPr marL="9078209" indent="-825292" algn="l" defTabSz="3301167" rtl="0" eaLnBrk="1" latinLnBrk="0" hangingPunct="1">
        <a:lnSpc>
          <a:spcPct val="90000"/>
        </a:lnSpc>
        <a:spcBef>
          <a:spcPts val="1805"/>
        </a:spcBef>
        <a:buFont typeface="Arial" panose="020B0604020202020204" pitchFamily="34" charset="0"/>
        <a:buChar char="•"/>
        <a:defRPr sz="6498" kern="1200">
          <a:solidFill>
            <a:schemeClr val="tx1"/>
          </a:solidFill>
          <a:latin typeface="+mn-lt"/>
          <a:ea typeface="+mn-ea"/>
          <a:cs typeface="+mn-cs"/>
        </a:defRPr>
      </a:lvl6pPr>
      <a:lvl7pPr marL="10728792" indent="-825292" algn="l" defTabSz="3301167" rtl="0" eaLnBrk="1" latinLnBrk="0" hangingPunct="1">
        <a:lnSpc>
          <a:spcPct val="90000"/>
        </a:lnSpc>
        <a:spcBef>
          <a:spcPts val="1805"/>
        </a:spcBef>
        <a:buFont typeface="Arial" panose="020B0604020202020204" pitchFamily="34" charset="0"/>
        <a:buChar char="•"/>
        <a:defRPr sz="6498" kern="1200">
          <a:solidFill>
            <a:schemeClr val="tx1"/>
          </a:solidFill>
          <a:latin typeface="+mn-lt"/>
          <a:ea typeface="+mn-ea"/>
          <a:cs typeface="+mn-cs"/>
        </a:defRPr>
      </a:lvl7pPr>
      <a:lvl8pPr marL="12379376" indent="-825292" algn="l" defTabSz="3301167" rtl="0" eaLnBrk="1" latinLnBrk="0" hangingPunct="1">
        <a:lnSpc>
          <a:spcPct val="90000"/>
        </a:lnSpc>
        <a:spcBef>
          <a:spcPts val="1805"/>
        </a:spcBef>
        <a:buFont typeface="Arial" panose="020B0604020202020204" pitchFamily="34" charset="0"/>
        <a:buChar char="•"/>
        <a:defRPr sz="6498" kern="1200">
          <a:solidFill>
            <a:schemeClr val="tx1"/>
          </a:solidFill>
          <a:latin typeface="+mn-lt"/>
          <a:ea typeface="+mn-ea"/>
          <a:cs typeface="+mn-cs"/>
        </a:defRPr>
      </a:lvl8pPr>
      <a:lvl9pPr marL="14029959" indent="-825292" algn="l" defTabSz="3301167" rtl="0" eaLnBrk="1" latinLnBrk="0" hangingPunct="1">
        <a:lnSpc>
          <a:spcPct val="90000"/>
        </a:lnSpc>
        <a:spcBef>
          <a:spcPts val="1805"/>
        </a:spcBef>
        <a:buFont typeface="Arial" panose="020B0604020202020204" pitchFamily="34" charset="0"/>
        <a:buChar char="•"/>
        <a:defRPr sz="6498" kern="1200">
          <a:solidFill>
            <a:schemeClr val="tx1"/>
          </a:solidFill>
          <a:latin typeface="+mn-lt"/>
          <a:ea typeface="+mn-ea"/>
          <a:cs typeface="+mn-cs"/>
        </a:defRPr>
      </a:lvl9pPr>
    </p:bodyStyle>
    <p:otherStyle>
      <a:defPPr>
        <a:defRPr lang="en-US"/>
      </a:defPPr>
      <a:lvl1pPr marL="0" algn="l" defTabSz="3301167" rtl="0" eaLnBrk="1" latinLnBrk="0" hangingPunct="1">
        <a:defRPr sz="6498" kern="1200">
          <a:solidFill>
            <a:schemeClr val="tx1"/>
          </a:solidFill>
          <a:latin typeface="+mn-lt"/>
          <a:ea typeface="+mn-ea"/>
          <a:cs typeface="+mn-cs"/>
        </a:defRPr>
      </a:lvl1pPr>
      <a:lvl2pPr marL="1650583" algn="l" defTabSz="3301167" rtl="0" eaLnBrk="1" latinLnBrk="0" hangingPunct="1">
        <a:defRPr sz="6498" kern="1200">
          <a:solidFill>
            <a:schemeClr val="tx1"/>
          </a:solidFill>
          <a:latin typeface="+mn-lt"/>
          <a:ea typeface="+mn-ea"/>
          <a:cs typeface="+mn-cs"/>
        </a:defRPr>
      </a:lvl2pPr>
      <a:lvl3pPr marL="3301167" algn="l" defTabSz="3301167" rtl="0" eaLnBrk="1" latinLnBrk="0" hangingPunct="1">
        <a:defRPr sz="6498" kern="1200">
          <a:solidFill>
            <a:schemeClr val="tx1"/>
          </a:solidFill>
          <a:latin typeface="+mn-lt"/>
          <a:ea typeface="+mn-ea"/>
          <a:cs typeface="+mn-cs"/>
        </a:defRPr>
      </a:lvl3pPr>
      <a:lvl4pPr marL="4951750" algn="l" defTabSz="3301167" rtl="0" eaLnBrk="1" latinLnBrk="0" hangingPunct="1">
        <a:defRPr sz="6498" kern="1200">
          <a:solidFill>
            <a:schemeClr val="tx1"/>
          </a:solidFill>
          <a:latin typeface="+mn-lt"/>
          <a:ea typeface="+mn-ea"/>
          <a:cs typeface="+mn-cs"/>
        </a:defRPr>
      </a:lvl4pPr>
      <a:lvl5pPr marL="6602334" algn="l" defTabSz="3301167" rtl="0" eaLnBrk="1" latinLnBrk="0" hangingPunct="1">
        <a:defRPr sz="6498" kern="1200">
          <a:solidFill>
            <a:schemeClr val="tx1"/>
          </a:solidFill>
          <a:latin typeface="+mn-lt"/>
          <a:ea typeface="+mn-ea"/>
          <a:cs typeface="+mn-cs"/>
        </a:defRPr>
      </a:lvl5pPr>
      <a:lvl6pPr marL="8252917" algn="l" defTabSz="3301167" rtl="0" eaLnBrk="1" latinLnBrk="0" hangingPunct="1">
        <a:defRPr sz="6498" kern="1200">
          <a:solidFill>
            <a:schemeClr val="tx1"/>
          </a:solidFill>
          <a:latin typeface="+mn-lt"/>
          <a:ea typeface="+mn-ea"/>
          <a:cs typeface="+mn-cs"/>
        </a:defRPr>
      </a:lvl6pPr>
      <a:lvl7pPr marL="9903501" algn="l" defTabSz="3301167" rtl="0" eaLnBrk="1" latinLnBrk="0" hangingPunct="1">
        <a:defRPr sz="6498" kern="1200">
          <a:solidFill>
            <a:schemeClr val="tx1"/>
          </a:solidFill>
          <a:latin typeface="+mn-lt"/>
          <a:ea typeface="+mn-ea"/>
          <a:cs typeface="+mn-cs"/>
        </a:defRPr>
      </a:lvl7pPr>
      <a:lvl8pPr marL="11554084" algn="l" defTabSz="3301167" rtl="0" eaLnBrk="1" latinLnBrk="0" hangingPunct="1">
        <a:defRPr sz="6498" kern="1200">
          <a:solidFill>
            <a:schemeClr val="tx1"/>
          </a:solidFill>
          <a:latin typeface="+mn-lt"/>
          <a:ea typeface="+mn-ea"/>
          <a:cs typeface="+mn-cs"/>
        </a:defRPr>
      </a:lvl8pPr>
      <a:lvl9pPr marL="13204668" algn="l" defTabSz="3301167" rtl="0" eaLnBrk="1" latinLnBrk="0" hangingPunct="1">
        <a:defRPr sz="64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emf"/><Relationship Id="rId14" Type="http://schemas.openxmlformats.org/officeDocument/2006/relationships/image" Target="../media/image12.emf"/><Relationship Id="rId15" Type="http://schemas.openxmlformats.org/officeDocument/2006/relationships/image" Target="../media/image13.emf"/><Relationship Id="rId16" Type="http://schemas.openxmlformats.org/officeDocument/2006/relationships/image" Target="../media/image14.emf"/><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emf"/><Relationship Id="rId5" Type="http://schemas.openxmlformats.org/officeDocument/2006/relationships/image" Target="../media/image3.emf"/><Relationship Id="rId6" Type="http://schemas.openxmlformats.org/officeDocument/2006/relationships/image" Target="../media/image4.emf"/><Relationship Id="rId7" Type="http://schemas.openxmlformats.org/officeDocument/2006/relationships/image" Target="../media/image5.emf"/><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17010087" y="4171544"/>
            <a:ext cx="15625764" cy="5420132"/>
          </a:xfrm>
          <a:prstGeom prst="rect">
            <a:avLst/>
          </a:prstGeom>
          <a:gradFill flip="none" rotWithShape="1">
            <a:gsLst>
              <a:gs pos="0">
                <a:schemeClr val="bg1">
                  <a:lumMod val="0"/>
                  <a:lumOff val="100000"/>
                </a:schemeClr>
              </a:gs>
              <a:gs pos="50000">
                <a:schemeClr val="accent5">
                  <a:lumMod val="20000"/>
                  <a:lumOff val="80000"/>
                </a:schemeClr>
              </a:gs>
            </a:gsLst>
            <a:lin ang="16200000" scaled="1"/>
            <a:tileRect/>
          </a:gra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endParaRPr lang="en-US" altLang="en-US" sz="2923" dirty="0">
              <a:solidFill>
                <a:prstClr val="black">
                  <a:lumMod val="75000"/>
                  <a:lumOff val="25000"/>
                </a:prstClr>
              </a:solidFill>
              <a:latin typeface="Roboto" charset="0"/>
              <a:ea typeface="Roboto" charset="0"/>
              <a:cs typeface="Roboto" charset="0"/>
            </a:endParaRPr>
          </a:p>
        </p:txBody>
      </p:sp>
      <p:sp>
        <p:nvSpPr>
          <p:cNvPr id="29" name="Text Box 2"/>
          <p:cNvSpPr txBox="1">
            <a:spLocks noChangeArrowheads="1"/>
          </p:cNvSpPr>
          <p:nvPr/>
        </p:nvSpPr>
        <p:spPr bwMode="auto">
          <a:xfrm>
            <a:off x="-32593" y="-5893"/>
            <a:ext cx="33044656" cy="3447631"/>
          </a:xfrm>
          <a:prstGeom prst="rect">
            <a:avLst/>
          </a:prstGeom>
          <a:solidFill>
            <a:srgbClr val="490F60"/>
          </a:solidFill>
          <a:ln>
            <a:noFill/>
          </a:ln>
          <a:effectLst/>
          <a:extLst/>
        </p:spPr>
        <p:txBody>
          <a:bodyPr wrap="square" lIns="306163" tIns="334020" rIns="306163" bIns="334020">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ctr"/>
            <a:r>
              <a:rPr lang="en-US" altLang="en-US" sz="8000" dirty="0" smtClean="0">
                <a:solidFill>
                  <a:schemeClr val="bg1"/>
                </a:solidFill>
                <a:latin typeface="Roboto" charset="0"/>
                <a:ea typeface="Roboto" charset="0"/>
                <a:cs typeface="Roboto" charset="0"/>
              </a:rPr>
              <a:t>Modelling the evolution of protein secondary structure</a:t>
            </a:r>
          </a:p>
          <a:p>
            <a:pPr algn="ctr"/>
            <a:endParaRPr lang="en-US" altLang="en-US" sz="5010" dirty="0" smtClean="0">
              <a:solidFill>
                <a:schemeClr val="bg1"/>
              </a:solidFill>
              <a:latin typeface="Roboto" charset="0"/>
              <a:ea typeface="Roboto" charset="0"/>
              <a:cs typeface="Roboto" charset="0"/>
            </a:endParaRPr>
          </a:p>
          <a:p>
            <a:pPr algn="ctr"/>
            <a:endParaRPr lang="en-US" altLang="en-US" sz="5010" dirty="0" smtClean="0">
              <a:solidFill>
                <a:schemeClr val="bg1"/>
              </a:solidFill>
              <a:latin typeface="Roboto" charset="0"/>
              <a:ea typeface="Roboto" charset="0"/>
              <a:cs typeface="Roboto" charset="0"/>
            </a:endParaRPr>
          </a:p>
        </p:txBody>
      </p:sp>
      <p:sp>
        <p:nvSpPr>
          <p:cNvPr id="30" name="Text Box 96"/>
          <p:cNvSpPr txBox="1">
            <a:spLocks noChangeArrowheads="1"/>
          </p:cNvSpPr>
          <p:nvPr/>
        </p:nvSpPr>
        <p:spPr bwMode="auto">
          <a:xfrm>
            <a:off x="-1" y="1455343"/>
            <a:ext cx="33012063" cy="188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06163" tIns="33071" rIns="306163"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ctr"/>
            <a:r>
              <a:rPr lang="en-US" altLang="en-US" sz="4383" u="sng" dirty="0" smtClean="0">
                <a:solidFill>
                  <a:schemeClr val="bg1"/>
                </a:solidFill>
                <a:latin typeface="Roboto" charset="0"/>
                <a:ea typeface="Roboto" charset="0"/>
                <a:cs typeface="Roboto" charset="0"/>
              </a:rPr>
              <a:t>Jhih-Siang </a:t>
            </a:r>
            <a:r>
              <a:rPr lang="en-US" altLang="en-US" sz="4383" u="sng" dirty="0">
                <a:solidFill>
                  <a:schemeClr val="bg1"/>
                </a:solidFill>
                <a:latin typeface="Roboto" charset="0"/>
                <a:ea typeface="Roboto" charset="0"/>
                <a:cs typeface="Roboto" charset="0"/>
              </a:rPr>
              <a:t>Lai</a:t>
            </a:r>
            <a:r>
              <a:rPr lang="en-US" altLang="en-US" sz="4383" dirty="0">
                <a:solidFill>
                  <a:schemeClr val="bg1"/>
                </a:solidFill>
                <a:latin typeface="Roboto" charset="0"/>
                <a:ea typeface="Roboto" charset="0"/>
                <a:cs typeface="Roboto" charset="0"/>
              </a:rPr>
              <a:t>, Bostjan Kobe and Mikael Bodén</a:t>
            </a:r>
            <a:r>
              <a:rPr lang="en-US" altLang="en-US" sz="4383" b="0" dirty="0">
                <a:solidFill>
                  <a:schemeClr val="bg1"/>
                </a:solidFill>
                <a:latin typeface="Roboto" charset="0"/>
                <a:ea typeface="Roboto" charset="0"/>
                <a:cs typeface="Roboto" charset="0"/>
              </a:rPr>
              <a:t/>
            </a:r>
            <a:br>
              <a:rPr lang="en-US" altLang="en-US" sz="4383" b="0" dirty="0">
                <a:solidFill>
                  <a:schemeClr val="bg1"/>
                </a:solidFill>
                <a:latin typeface="Roboto" charset="0"/>
                <a:ea typeface="Roboto" charset="0"/>
                <a:cs typeface="Roboto" charset="0"/>
              </a:rPr>
            </a:br>
            <a:r>
              <a:rPr lang="en-US" altLang="en-US" sz="3711" b="0" dirty="0">
                <a:solidFill>
                  <a:schemeClr val="bg1"/>
                </a:solidFill>
                <a:latin typeface="Roboto" charset="0"/>
                <a:ea typeface="Roboto" charset="0"/>
                <a:cs typeface="Roboto" charset="0"/>
              </a:rPr>
              <a:t>School of Chemistry and Molecular Biosciences</a:t>
            </a:r>
            <a:r>
              <a:rPr lang="en-US" altLang="en-US" sz="3711" b="0" dirty="0" smtClean="0">
                <a:solidFill>
                  <a:schemeClr val="bg1"/>
                </a:solidFill>
                <a:latin typeface="Roboto" charset="0"/>
                <a:ea typeface="Roboto" charset="0"/>
                <a:cs typeface="Roboto" charset="0"/>
              </a:rPr>
              <a:t>, </a:t>
            </a:r>
            <a:r>
              <a:rPr lang="en-US" altLang="en-US" sz="3711" b="0" dirty="0">
                <a:solidFill>
                  <a:schemeClr val="bg1"/>
                </a:solidFill>
                <a:latin typeface="Roboto" charset="0"/>
                <a:ea typeface="Roboto" charset="0"/>
                <a:cs typeface="Roboto" charset="0"/>
              </a:rPr>
              <a:t>The University of Queensland, Brisbane, QLD </a:t>
            </a:r>
            <a:r>
              <a:rPr lang="en-US" altLang="en-US" sz="3711" b="0" dirty="0" smtClean="0">
                <a:solidFill>
                  <a:schemeClr val="bg1"/>
                </a:solidFill>
                <a:latin typeface="Roboto" charset="0"/>
                <a:ea typeface="Roboto" charset="0"/>
                <a:cs typeface="Roboto" charset="0"/>
              </a:rPr>
              <a:t>4072, Australia</a:t>
            </a:r>
          </a:p>
          <a:p>
            <a:pPr algn="ctr"/>
            <a:r>
              <a:rPr lang="en-US" altLang="en-US" sz="3711" b="0" dirty="0" smtClean="0">
                <a:solidFill>
                  <a:schemeClr val="bg1"/>
                </a:solidFill>
                <a:latin typeface="Roboto" charset="0"/>
                <a:ea typeface="Roboto" charset="0"/>
                <a:cs typeface="Roboto" charset="0"/>
              </a:rPr>
              <a:t>js.lai@uqconnect.edu.au     http</a:t>
            </a:r>
            <a:r>
              <a:rPr lang="en-US" altLang="en-US" sz="3711" b="0" dirty="0">
                <a:solidFill>
                  <a:schemeClr val="bg1"/>
                </a:solidFill>
                <a:latin typeface="Roboto" charset="0"/>
                <a:ea typeface="Roboto" charset="0"/>
                <a:cs typeface="Roboto" charset="0"/>
              </a:rPr>
              <a:t>://bioinf.scmb.uq.edu.au/</a:t>
            </a:r>
            <a:r>
              <a:rPr lang="en-US" altLang="en-US" sz="3711" b="0" dirty="0" err="1">
                <a:solidFill>
                  <a:schemeClr val="bg1"/>
                </a:solidFill>
                <a:latin typeface="Roboto" charset="0"/>
                <a:ea typeface="Roboto" charset="0"/>
                <a:cs typeface="Roboto" charset="0"/>
              </a:rPr>
              <a:t>EvoSS</a:t>
            </a:r>
            <a:endParaRPr lang="en-US" altLang="en-US" sz="4383" b="0" dirty="0">
              <a:solidFill>
                <a:schemeClr val="bg1"/>
              </a:solidFill>
              <a:latin typeface="Roboto" charset="0"/>
              <a:ea typeface="Roboto" charset="0"/>
              <a:cs typeface="Roboto" charset="0"/>
            </a:endParaRPr>
          </a:p>
        </p:txBody>
      </p:sp>
      <p:pic>
        <p:nvPicPr>
          <p:cNvPr id="32" name="Picture 31"/>
          <p:cNvPicPr>
            <a:picLocks noChangeAspect="1"/>
          </p:cNvPicPr>
          <p:nvPr/>
        </p:nvPicPr>
        <p:blipFill>
          <a:blip r:embed="rId3">
            <a:extLst>
              <a:ext uri="{28A0092B-C50C-407E-A947-70E740481C1C}">
                <a14:useLocalDpi xmlns:a14="http://schemas.microsoft.com/office/drawing/2010/main"/>
              </a:ext>
            </a:extLst>
          </a:blip>
          <a:stretch>
            <a:fillRect/>
          </a:stretch>
        </p:blipFill>
        <p:spPr>
          <a:xfrm rot="10800000" flipH="1" flipV="1">
            <a:off x="431978" y="576211"/>
            <a:ext cx="2534159" cy="2428168"/>
          </a:xfrm>
          <a:prstGeom prst="rect">
            <a:avLst/>
          </a:prstGeom>
        </p:spPr>
      </p:pic>
      <p:sp>
        <p:nvSpPr>
          <p:cNvPr id="47" name="Rectangle 46"/>
          <p:cNvSpPr/>
          <p:nvPr/>
        </p:nvSpPr>
        <p:spPr>
          <a:xfrm>
            <a:off x="738011" y="4171544"/>
            <a:ext cx="15625764" cy="5420131"/>
          </a:xfrm>
          <a:prstGeom prst="rect">
            <a:avLst/>
          </a:prstGeom>
          <a:gradFill flip="none" rotWithShape="1">
            <a:gsLst>
              <a:gs pos="0">
                <a:schemeClr val="bg1">
                  <a:lumMod val="0"/>
                  <a:lumOff val="100000"/>
                </a:schemeClr>
              </a:gs>
              <a:gs pos="50000">
                <a:schemeClr val="accent5">
                  <a:lumMod val="20000"/>
                  <a:lumOff val="80000"/>
                </a:schemeClr>
              </a:gs>
            </a:gsLst>
            <a:lin ang="16200000" scaled="1"/>
            <a:tileRect/>
          </a:gra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endParaRPr lang="en-US" altLang="en-US" sz="2923" dirty="0">
              <a:solidFill>
                <a:prstClr val="black">
                  <a:lumMod val="75000"/>
                  <a:lumOff val="25000"/>
                </a:prstClr>
              </a:solidFill>
              <a:latin typeface="Roboto" charset="0"/>
              <a:ea typeface="Roboto" charset="0"/>
              <a:cs typeface="Roboto" charset="0"/>
            </a:endParaRPr>
          </a:p>
        </p:txBody>
      </p:sp>
      <p:sp>
        <p:nvSpPr>
          <p:cNvPr id="51" name="Process 50"/>
          <p:cNvSpPr/>
          <p:nvPr/>
        </p:nvSpPr>
        <p:spPr>
          <a:xfrm>
            <a:off x="376238" y="3839461"/>
            <a:ext cx="5854365" cy="769441"/>
          </a:xfrm>
          <a:prstGeom prst="flowChartProcess">
            <a:avLst/>
          </a:prstGeom>
          <a:solidFill>
            <a:srgbClr val="0070C0"/>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smtClean="0">
                <a:latin typeface="Roboto" charset="0"/>
                <a:ea typeface="Roboto" charset="0"/>
                <a:cs typeface="Roboto" charset="0"/>
              </a:rPr>
              <a:t>Background</a:t>
            </a:r>
            <a:endParaRPr lang="en-US" sz="4400" b="1" dirty="0">
              <a:latin typeface="Roboto" charset="0"/>
              <a:ea typeface="Roboto" charset="0"/>
              <a:cs typeface="Roboto" charset="0"/>
            </a:endParaRPr>
          </a:p>
        </p:txBody>
      </p:sp>
      <p:sp>
        <p:nvSpPr>
          <p:cNvPr id="55" name="Text Box 233"/>
          <p:cNvSpPr txBox="1">
            <a:spLocks noChangeArrowheads="1"/>
          </p:cNvSpPr>
          <p:nvPr/>
        </p:nvSpPr>
        <p:spPr bwMode="auto">
          <a:xfrm>
            <a:off x="765970" y="4608902"/>
            <a:ext cx="15597805" cy="4036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lvl="0" algn="just" defTabSz="2885426">
              <a:lnSpc>
                <a:spcPts val="3908"/>
              </a:lnSpc>
            </a:pPr>
            <a:r>
              <a:rPr lang="en-US" altLang="en-US" sz="2923" b="0" dirty="0" smtClean="0">
                <a:solidFill>
                  <a:prstClr val="black">
                    <a:lumMod val="75000"/>
                    <a:lumOff val="25000"/>
                  </a:prstClr>
                </a:solidFill>
                <a:latin typeface="Roboto" charset="0"/>
                <a:ea typeface="Roboto" charset="0"/>
                <a:cs typeface="Roboto" charset="0"/>
              </a:rPr>
              <a:t>Attempts </a:t>
            </a:r>
            <a:r>
              <a:rPr lang="en-US" altLang="en-US" sz="2923" b="0" dirty="0">
                <a:solidFill>
                  <a:prstClr val="black">
                    <a:lumMod val="75000"/>
                    <a:lumOff val="25000"/>
                  </a:prstClr>
                </a:solidFill>
                <a:latin typeface="Roboto" charset="0"/>
                <a:ea typeface="Roboto" charset="0"/>
                <a:cs typeface="Roboto" charset="0"/>
              </a:rPr>
              <a:t>to reconstruct extremely ancient proteins and phylogenetic analyses of remote homologues must deal with the sequence diversity that results from extended periods of evolutionary </a:t>
            </a:r>
            <a:r>
              <a:rPr lang="en-US" altLang="en-US" sz="2923" b="0" dirty="0" smtClean="0">
                <a:solidFill>
                  <a:prstClr val="black">
                    <a:lumMod val="75000"/>
                    <a:lumOff val="25000"/>
                  </a:prstClr>
                </a:solidFill>
                <a:latin typeface="Roboto" charset="0"/>
                <a:ea typeface="Roboto" charset="0"/>
                <a:cs typeface="Roboto" charset="0"/>
              </a:rPr>
              <a:t>change.</a:t>
            </a:r>
          </a:p>
          <a:p>
            <a:pPr lvl="0" algn="just" defTabSz="2885426">
              <a:lnSpc>
                <a:spcPts val="3908"/>
              </a:lnSpc>
            </a:pPr>
            <a:r>
              <a:rPr lang="en-US" altLang="en-US" sz="2923" b="0" dirty="0" smtClean="0">
                <a:solidFill>
                  <a:prstClr val="black">
                    <a:lumMod val="75000"/>
                    <a:lumOff val="25000"/>
                  </a:prstClr>
                </a:solidFill>
                <a:latin typeface="Roboto" charset="0"/>
                <a:ea typeface="Roboto" charset="0"/>
                <a:cs typeface="Roboto" charset="0"/>
              </a:rPr>
              <a:t>The number of protein structures in the Protein Data Bank has increased twenty-fold. Using the same principles pioneered by Dayhoff [4], we seize this wealth of structure data and develop a protein secondary structure evolutionary model, based on differences between discrete secondary structure states observed in modern proteins and those hypothesized in their immediate ancestors. </a:t>
            </a:r>
            <a:endParaRPr lang="en-US" altLang="en-US" sz="2923" b="0" dirty="0">
              <a:solidFill>
                <a:prstClr val="black">
                  <a:lumMod val="75000"/>
                  <a:lumOff val="25000"/>
                </a:prstClr>
              </a:solidFill>
              <a:latin typeface="Roboto" charset="0"/>
              <a:ea typeface="Roboto" charset="0"/>
              <a:cs typeface="Roboto" charset="0"/>
            </a:endParaRPr>
          </a:p>
        </p:txBody>
      </p:sp>
      <p:sp>
        <p:nvSpPr>
          <p:cNvPr id="57" name="Process 56"/>
          <p:cNvSpPr/>
          <p:nvPr/>
        </p:nvSpPr>
        <p:spPr>
          <a:xfrm>
            <a:off x="16627446" y="3839461"/>
            <a:ext cx="5854365" cy="769441"/>
          </a:xfrm>
          <a:prstGeom prst="flowChartProcess">
            <a:avLst/>
          </a:prstGeom>
          <a:solidFill>
            <a:srgbClr val="0070C0"/>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smtClean="0">
                <a:latin typeface="Roboto" charset="0"/>
                <a:ea typeface="Roboto" charset="0"/>
                <a:cs typeface="Roboto" charset="0"/>
              </a:rPr>
              <a:t>Aims</a:t>
            </a:r>
            <a:endParaRPr lang="en-US" sz="4400" b="1" dirty="0">
              <a:latin typeface="Roboto" charset="0"/>
              <a:ea typeface="Roboto" charset="0"/>
              <a:cs typeface="Roboto" charset="0"/>
            </a:endParaRPr>
          </a:p>
        </p:txBody>
      </p:sp>
      <p:sp>
        <p:nvSpPr>
          <p:cNvPr id="58" name="Text Box 233"/>
          <p:cNvSpPr txBox="1">
            <a:spLocks noChangeArrowheads="1"/>
          </p:cNvSpPr>
          <p:nvPr/>
        </p:nvSpPr>
        <p:spPr bwMode="auto">
          <a:xfrm>
            <a:off x="16993043" y="4656089"/>
            <a:ext cx="15602140" cy="4911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marL="457200" lvl="0" indent="-457200" algn="just" defTabSz="2885426">
              <a:lnSpc>
                <a:spcPts val="3808"/>
              </a:lnSpc>
              <a:buSzPct val="125000"/>
              <a:buFont typeface="Wingdings" charset="2"/>
              <a:buChar char="§"/>
            </a:pPr>
            <a:r>
              <a:rPr lang="en-US" altLang="en-US" sz="2923" b="0" dirty="0" smtClean="0">
                <a:solidFill>
                  <a:prstClr val="black">
                    <a:lumMod val="75000"/>
                    <a:lumOff val="25000"/>
                  </a:prstClr>
                </a:solidFill>
                <a:latin typeface="Roboto" charset="0"/>
                <a:ea typeface="Roboto" charset="0"/>
                <a:cs typeface="Roboto" charset="0"/>
              </a:rPr>
              <a:t>Develop an new evolutionary model, </a:t>
            </a:r>
            <a:r>
              <a:rPr lang="en-US" altLang="en-US" sz="2923" b="0" dirty="0">
                <a:solidFill>
                  <a:prstClr val="black">
                    <a:lumMod val="75000"/>
                    <a:lumOff val="25000"/>
                  </a:prstClr>
                </a:solidFill>
                <a:latin typeface="Roboto" charset="0"/>
                <a:ea typeface="Roboto" charset="0"/>
                <a:cs typeface="Roboto" charset="0"/>
              </a:rPr>
              <a:t>based directly on changes of secondary structure over evolutionary time</a:t>
            </a:r>
            <a:r>
              <a:rPr lang="en-US" altLang="en-US" sz="2923" b="0" dirty="0" smtClean="0">
                <a:solidFill>
                  <a:prstClr val="black">
                    <a:lumMod val="75000"/>
                    <a:lumOff val="25000"/>
                  </a:prstClr>
                </a:solidFill>
                <a:latin typeface="Roboto" charset="0"/>
                <a:ea typeface="Roboto" charset="0"/>
                <a:cs typeface="Roboto" charset="0"/>
              </a:rPr>
              <a:t>.</a:t>
            </a:r>
          </a:p>
          <a:p>
            <a:pPr marL="457200" lvl="0" indent="-457200" algn="just" defTabSz="2885426">
              <a:lnSpc>
                <a:spcPts val="3808"/>
              </a:lnSpc>
              <a:buSzPct val="125000"/>
              <a:buFont typeface="Wingdings" charset="2"/>
              <a:buChar char="§"/>
            </a:pPr>
            <a:r>
              <a:rPr lang="en-US" altLang="en-US" sz="2923" b="0" dirty="0">
                <a:solidFill>
                  <a:prstClr val="black">
                    <a:lumMod val="75000"/>
                    <a:lumOff val="25000"/>
                  </a:prstClr>
                </a:solidFill>
                <a:latin typeface="Roboto" charset="0"/>
                <a:ea typeface="Roboto" charset="0"/>
                <a:cs typeface="Roboto" charset="0"/>
              </a:rPr>
              <a:t>Investigate evolutionary changes at both the structure and amino acid levels based on </a:t>
            </a:r>
            <a:r>
              <a:rPr lang="en-US" altLang="en-US" sz="2923" b="0" dirty="0" smtClean="0">
                <a:solidFill>
                  <a:prstClr val="black">
                    <a:lumMod val="75000"/>
                    <a:lumOff val="25000"/>
                  </a:prstClr>
                </a:solidFill>
                <a:latin typeface="Roboto" charset="0"/>
                <a:ea typeface="Roboto" charset="0"/>
                <a:cs typeface="Roboto" charset="0"/>
              </a:rPr>
              <a:t>high-quality alignments.</a:t>
            </a:r>
          </a:p>
          <a:p>
            <a:pPr marL="457200" lvl="0" indent="-457200" algn="just" defTabSz="2885426">
              <a:lnSpc>
                <a:spcPts val="3808"/>
              </a:lnSpc>
              <a:buSzPct val="125000"/>
              <a:buFont typeface="Wingdings" charset="2"/>
              <a:buChar char="§"/>
            </a:pPr>
            <a:r>
              <a:rPr lang="en-US" altLang="en-US" sz="2923" b="0" dirty="0" smtClean="0">
                <a:solidFill>
                  <a:prstClr val="black">
                    <a:lumMod val="75000"/>
                    <a:lumOff val="25000"/>
                  </a:prstClr>
                </a:solidFill>
                <a:latin typeface="Roboto" charset="0"/>
                <a:ea typeface="Roboto" charset="0"/>
                <a:cs typeface="Roboto" charset="0"/>
              </a:rPr>
              <a:t>Implement </a:t>
            </a:r>
            <a:r>
              <a:rPr lang="en-US" altLang="en-US" sz="2923" b="0" dirty="0">
                <a:solidFill>
                  <a:prstClr val="black">
                    <a:lumMod val="75000"/>
                    <a:lumOff val="25000"/>
                  </a:prstClr>
                </a:solidFill>
                <a:latin typeface="Roboto" charset="0"/>
                <a:ea typeface="Roboto" charset="0"/>
                <a:cs typeface="Roboto" charset="0"/>
              </a:rPr>
              <a:t>maximum likelihood-based phylogenetic inference tools based on </a:t>
            </a:r>
            <a:r>
              <a:rPr lang="en-US" altLang="en-US" sz="2923" b="0" dirty="0" smtClean="0">
                <a:solidFill>
                  <a:prstClr val="black">
                    <a:lumMod val="75000"/>
                    <a:lumOff val="25000"/>
                  </a:prstClr>
                </a:solidFill>
                <a:latin typeface="Roboto" charset="0"/>
                <a:ea typeface="Roboto" charset="0"/>
                <a:cs typeface="Roboto" charset="0"/>
              </a:rPr>
              <a:t>secondary </a:t>
            </a:r>
            <a:r>
              <a:rPr lang="en-US" altLang="en-US" sz="2923" b="0" dirty="0">
                <a:solidFill>
                  <a:prstClr val="black">
                    <a:lumMod val="75000"/>
                    <a:lumOff val="25000"/>
                  </a:prstClr>
                </a:solidFill>
                <a:latin typeface="Roboto" charset="0"/>
                <a:ea typeface="Roboto" charset="0"/>
                <a:cs typeface="Roboto" charset="0"/>
              </a:rPr>
              <a:t>structure evolutionary </a:t>
            </a:r>
            <a:r>
              <a:rPr lang="en-US" altLang="en-US" sz="2923" b="0" dirty="0" smtClean="0">
                <a:solidFill>
                  <a:prstClr val="black">
                    <a:lumMod val="75000"/>
                    <a:lumOff val="25000"/>
                  </a:prstClr>
                </a:solidFill>
                <a:latin typeface="Roboto" charset="0"/>
                <a:ea typeface="Roboto" charset="0"/>
                <a:cs typeface="Roboto" charset="0"/>
              </a:rPr>
              <a:t>model and apply them to the sequence-diverse but structurally-conserved domains.</a:t>
            </a:r>
          </a:p>
          <a:p>
            <a:pPr marL="457200" lvl="0" indent="-457200" algn="just" defTabSz="2885426">
              <a:lnSpc>
                <a:spcPts val="3808"/>
              </a:lnSpc>
              <a:buSzPct val="125000"/>
              <a:buFont typeface="Wingdings" charset="2"/>
              <a:buChar char="§"/>
            </a:pPr>
            <a:r>
              <a:rPr lang="en-US" altLang="en-US" sz="2923" b="0" dirty="0" smtClean="0">
                <a:solidFill>
                  <a:prstClr val="black">
                    <a:lumMod val="75000"/>
                    <a:lumOff val="25000"/>
                  </a:prstClr>
                </a:solidFill>
                <a:latin typeface="Roboto" charset="0"/>
                <a:ea typeface="Roboto" charset="0"/>
                <a:cs typeface="Roboto" charset="0"/>
              </a:rPr>
              <a:t>Infer </a:t>
            </a:r>
            <a:r>
              <a:rPr lang="en-US" altLang="en-US" sz="2923" b="0" dirty="0">
                <a:solidFill>
                  <a:prstClr val="black">
                    <a:lumMod val="75000"/>
                    <a:lumOff val="25000"/>
                  </a:prstClr>
                </a:solidFill>
                <a:latin typeface="Roboto" charset="0"/>
                <a:ea typeface="Roboto" charset="0"/>
                <a:cs typeface="Roboto" charset="0"/>
              </a:rPr>
              <a:t>ancestral secondary </a:t>
            </a:r>
            <a:r>
              <a:rPr lang="en-US" altLang="en-US" sz="2923" b="0" dirty="0" smtClean="0">
                <a:solidFill>
                  <a:prstClr val="black">
                    <a:lumMod val="75000"/>
                    <a:lumOff val="25000"/>
                  </a:prstClr>
                </a:solidFill>
                <a:latin typeface="Roboto" charset="0"/>
                <a:ea typeface="Roboto" charset="0"/>
                <a:cs typeface="Roboto" charset="0"/>
              </a:rPr>
              <a:t>structure based on </a:t>
            </a:r>
            <a:r>
              <a:rPr lang="en-US" altLang="en-US" sz="2923" b="0" dirty="0">
                <a:solidFill>
                  <a:prstClr val="black">
                    <a:lumMod val="75000"/>
                    <a:lumOff val="25000"/>
                  </a:prstClr>
                </a:solidFill>
                <a:latin typeface="Roboto" charset="0"/>
                <a:ea typeface="Roboto" charset="0"/>
                <a:cs typeface="Roboto" charset="0"/>
              </a:rPr>
              <a:t>secondary structure evolutionary model </a:t>
            </a:r>
            <a:r>
              <a:rPr lang="en-US" altLang="en-US" sz="2923" b="0" dirty="0" smtClean="0">
                <a:solidFill>
                  <a:prstClr val="black">
                    <a:lumMod val="75000"/>
                    <a:lumOff val="25000"/>
                  </a:prstClr>
                </a:solidFill>
                <a:latin typeface="Roboto" charset="0"/>
                <a:ea typeface="Roboto" charset="0"/>
                <a:cs typeface="Roboto" charset="0"/>
              </a:rPr>
              <a:t>and compare our predictions </a:t>
            </a:r>
            <a:r>
              <a:rPr lang="en-US" altLang="en-US" sz="2923" b="0" dirty="0">
                <a:solidFill>
                  <a:prstClr val="black">
                    <a:lumMod val="75000"/>
                    <a:lumOff val="25000"/>
                  </a:prstClr>
                </a:solidFill>
                <a:latin typeface="Roboto" charset="0"/>
                <a:ea typeface="Roboto" charset="0"/>
                <a:cs typeface="Roboto" charset="0"/>
              </a:rPr>
              <a:t>with those of structure homology modelling and sequence-based secondary structure predictors. </a:t>
            </a:r>
            <a:endParaRPr lang="en-US" altLang="en-US" sz="2923" b="0" dirty="0" smtClean="0">
              <a:solidFill>
                <a:prstClr val="black">
                  <a:lumMod val="75000"/>
                  <a:lumOff val="25000"/>
                </a:prstClr>
              </a:solidFill>
              <a:latin typeface="Roboto" charset="0"/>
              <a:ea typeface="Roboto" charset="0"/>
              <a:cs typeface="Roboto" charset="0"/>
            </a:endParaRPr>
          </a:p>
        </p:txBody>
      </p:sp>
      <p:sp>
        <p:nvSpPr>
          <p:cNvPr id="14" name="Rectangle 13"/>
          <p:cNvSpPr/>
          <p:nvPr/>
        </p:nvSpPr>
        <p:spPr>
          <a:xfrm>
            <a:off x="17010059" y="40435563"/>
            <a:ext cx="15625764" cy="5808684"/>
          </a:xfrm>
          <a:prstGeom prst="rect">
            <a:avLst/>
          </a:prstGeom>
          <a:gradFill flip="none" rotWithShape="1">
            <a:gsLst>
              <a:gs pos="0">
                <a:schemeClr val="bg1">
                  <a:lumMod val="0"/>
                  <a:lumOff val="100000"/>
                </a:schemeClr>
              </a:gs>
              <a:gs pos="50000">
                <a:schemeClr val="accent5">
                  <a:lumMod val="20000"/>
                  <a:lumOff val="80000"/>
                </a:schemeClr>
              </a:gs>
            </a:gsLst>
            <a:lin ang="16200000" scaled="1"/>
            <a:tileRect/>
          </a:gra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endParaRPr lang="en-US" altLang="en-US" sz="2923" dirty="0">
              <a:solidFill>
                <a:prstClr val="black">
                  <a:lumMod val="75000"/>
                  <a:lumOff val="25000"/>
                </a:prstClr>
              </a:solidFill>
              <a:latin typeface="Roboto" charset="0"/>
              <a:ea typeface="Roboto" charset="0"/>
              <a:cs typeface="Roboto" charset="0"/>
            </a:endParaRPr>
          </a:p>
        </p:txBody>
      </p:sp>
      <p:sp>
        <p:nvSpPr>
          <p:cNvPr id="16" name="Text Box 233"/>
          <p:cNvSpPr txBox="1">
            <a:spLocks noChangeArrowheads="1"/>
          </p:cNvSpPr>
          <p:nvPr/>
        </p:nvSpPr>
        <p:spPr bwMode="auto">
          <a:xfrm>
            <a:off x="16794063" y="40843719"/>
            <a:ext cx="15840773" cy="5606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[1] Wilson, C., et al., 2015. Using ancient protein kinases to unravel a modern cancer drug’s mechanism. </a:t>
            </a:r>
            <a:r>
              <a:rPr lang="en-US" altLang="en-US" sz="2000" b="0" i="1" dirty="0">
                <a:solidFill>
                  <a:prstClr val="black">
                    <a:lumMod val="75000"/>
                    <a:lumOff val="25000"/>
                  </a:prstClr>
                </a:solidFill>
                <a:latin typeface="Roboto" charset="0"/>
                <a:ea typeface="Roboto" charset="0"/>
                <a:cs typeface="Roboto" charset="0"/>
              </a:rPr>
              <a:t>Science</a:t>
            </a:r>
            <a:r>
              <a:rPr lang="en-US" altLang="en-US" sz="2000" b="0" dirty="0">
                <a:solidFill>
                  <a:prstClr val="black">
                    <a:lumMod val="75000"/>
                    <a:lumOff val="25000"/>
                  </a:prstClr>
                </a:solidFill>
                <a:latin typeface="Roboto" charset="0"/>
                <a:ea typeface="Roboto" charset="0"/>
                <a:cs typeface="Roboto" charset="0"/>
              </a:rPr>
              <a:t>, 347(6224): 882–886</a:t>
            </a:r>
            <a:r>
              <a:rPr lang="en-US" altLang="en-US" sz="2000" b="0" dirty="0" smtClean="0">
                <a:solidFill>
                  <a:prstClr val="black">
                    <a:lumMod val="75000"/>
                    <a:lumOff val="25000"/>
                  </a:prstClr>
                </a:solidFill>
                <a:latin typeface="Roboto" charset="0"/>
                <a:ea typeface="Roboto" charset="0"/>
                <a:cs typeface="Roboto" charset="0"/>
              </a:rPr>
              <a:t>.</a:t>
            </a:r>
            <a:endParaRPr lang="en-US" altLang="en-US" sz="2000" b="0" dirty="0">
              <a:solidFill>
                <a:prstClr val="black">
                  <a:lumMod val="75000"/>
                  <a:lumOff val="25000"/>
                </a:prstClr>
              </a:solidFill>
              <a:latin typeface="Roboto" charset="0"/>
              <a:ea typeface="Roboto" charset="0"/>
              <a:cs typeface="Roboto" charset="0"/>
            </a:endParaRP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[2] Hudson, W. H., et al. 2016. Distal substitutions drive divergent DNA specificity among paralogous transcription factors through subdivision of conformational space. </a:t>
            </a:r>
            <a:r>
              <a:rPr lang="en-US" altLang="en-US" sz="2000" b="0" i="1" dirty="0">
                <a:solidFill>
                  <a:prstClr val="black">
                    <a:lumMod val="75000"/>
                    <a:lumOff val="25000"/>
                  </a:prstClr>
                </a:solidFill>
                <a:latin typeface="Roboto" charset="0"/>
                <a:ea typeface="Roboto" charset="0"/>
                <a:cs typeface="Roboto" charset="0"/>
              </a:rPr>
              <a:t>Proc Natl </a:t>
            </a:r>
            <a:r>
              <a:rPr lang="en-US" altLang="en-US" sz="2000" b="0" i="1" dirty="0" err="1">
                <a:solidFill>
                  <a:prstClr val="black">
                    <a:lumMod val="75000"/>
                    <a:lumOff val="25000"/>
                  </a:prstClr>
                </a:solidFill>
                <a:latin typeface="Roboto" charset="0"/>
                <a:ea typeface="Roboto" charset="0"/>
                <a:cs typeface="Roboto" charset="0"/>
              </a:rPr>
              <a:t>Acad</a:t>
            </a:r>
            <a:r>
              <a:rPr lang="en-US" altLang="en-US" sz="2000" b="0" i="1" dirty="0">
                <a:solidFill>
                  <a:prstClr val="black">
                    <a:lumMod val="75000"/>
                    <a:lumOff val="25000"/>
                  </a:prstClr>
                </a:solidFill>
                <a:latin typeface="Roboto" charset="0"/>
                <a:ea typeface="Roboto" charset="0"/>
                <a:cs typeface="Roboto" charset="0"/>
              </a:rPr>
              <a:t> </a:t>
            </a:r>
            <a:r>
              <a:rPr lang="en-US" altLang="en-US" sz="2000" b="0" i="1" dirty="0" err="1">
                <a:solidFill>
                  <a:prstClr val="black">
                    <a:lumMod val="75000"/>
                    <a:lumOff val="25000"/>
                  </a:prstClr>
                </a:solidFill>
                <a:latin typeface="Roboto" charset="0"/>
                <a:ea typeface="Roboto" charset="0"/>
                <a:cs typeface="Roboto" charset="0"/>
              </a:rPr>
              <a:t>Sci</a:t>
            </a:r>
            <a:r>
              <a:rPr lang="en-US" altLang="en-US" sz="2000" b="0" i="1" dirty="0">
                <a:solidFill>
                  <a:prstClr val="black">
                    <a:lumMod val="75000"/>
                    <a:lumOff val="25000"/>
                  </a:prstClr>
                </a:solidFill>
                <a:latin typeface="Roboto" charset="0"/>
                <a:ea typeface="Roboto" charset="0"/>
                <a:cs typeface="Roboto" charset="0"/>
              </a:rPr>
              <a:t> U S A</a:t>
            </a:r>
            <a:r>
              <a:rPr lang="en-US" altLang="en-US" sz="2000" b="0" dirty="0">
                <a:solidFill>
                  <a:prstClr val="black">
                    <a:lumMod val="75000"/>
                    <a:lumOff val="25000"/>
                  </a:prstClr>
                </a:solidFill>
                <a:latin typeface="Roboto" charset="0"/>
                <a:ea typeface="Roboto" charset="0"/>
                <a:cs typeface="Roboto" charset="0"/>
              </a:rPr>
              <a:t>, 113(2): </a:t>
            </a:r>
            <a:r>
              <a:rPr lang="en-US" altLang="en-US" sz="2000" b="0" dirty="0" smtClean="0">
                <a:solidFill>
                  <a:prstClr val="black">
                    <a:lumMod val="75000"/>
                    <a:lumOff val="25000"/>
                  </a:prstClr>
                </a:solidFill>
                <a:latin typeface="Roboto" charset="0"/>
                <a:ea typeface="Roboto" charset="0"/>
                <a:cs typeface="Roboto" charset="0"/>
              </a:rPr>
              <a:t>326-331</a:t>
            </a:r>
            <a:endParaRPr lang="en-US" altLang="en-US" sz="2000" b="0" dirty="0">
              <a:solidFill>
                <a:prstClr val="black">
                  <a:lumMod val="75000"/>
                  <a:lumOff val="25000"/>
                </a:prstClr>
              </a:solidFill>
              <a:latin typeface="Roboto" charset="0"/>
              <a:ea typeface="Roboto" charset="0"/>
              <a:cs typeface="Roboto" charset="0"/>
            </a:endParaRP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[3] Clifton, B. E. and Jackson, C. J. 2016. Ancestral protein reconstruction yields insights into adaptive evolution of binding specificity in solute-binding proteins. </a:t>
            </a:r>
            <a:r>
              <a:rPr lang="en-US" altLang="en-US" sz="2000" b="0" i="1" dirty="0">
                <a:solidFill>
                  <a:prstClr val="black">
                    <a:lumMod val="75000"/>
                    <a:lumOff val="25000"/>
                  </a:prstClr>
                </a:solidFill>
                <a:latin typeface="Roboto" charset="0"/>
                <a:ea typeface="Roboto" charset="0"/>
                <a:cs typeface="Roboto" charset="0"/>
              </a:rPr>
              <a:t>Cell </a:t>
            </a:r>
            <a:r>
              <a:rPr lang="en-US" altLang="en-US" sz="2000" b="0" i="1" dirty="0" err="1">
                <a:solidFill>
                  <a:prstClr val="black">
                    <a:lumMod val="75000"/>
                    <a:lumOff val="25000"/>
                  </a:prstClr>
                </a:solidFill>
                <a:latin typeface="Roboto" charset="0"/>
                <a:ea typeface="Roboto" charset="0"/>
                <a:cs typeface="Roboto" charset="0"/>
              </a:rPr>
              <a:t>Chem</a:t>
            </a:r>
            <a:r>
              <a:rPr lang="en-US" altLang="en-US" sz="2000" b="0" i="1" dirty="0">
                <a:solidFill>
                  <a:prstClr val="black">
                    <a:lumMod val="75000"/>
                    <a:lumOff val="25000"/>
                  </a:prstClr>
                </a:solidFill>
                <a:latin typeface="Roboto" charset="0"/>
                <a:ea typeface="Roboto" charset="0"/>
                <a:cs typeface="Roboto" charset="0"/>
              </a:rPr>
              <a:t> </a:t>
            </a:r>
            <a:r>
              <a:rPr lang="en-US" altLang="en-US" sz="2000" b="0" i="1" dirty="0" err="1">
                <a:solidFill>
                  <a:prstClr val="black">
                    <a:lumMod val="75000"/>
                    <a:lumOff val="25000"/>
                  </a:prstClr>
                </a:solidFill>
                <a:latin typeface="Roboto" charset="0"/>
                <a:ea typeface="Roboto" charset="0"/>
                <a:cs typeface="Roboto" charset="0"/>
              </a:rPr>
              <a:t>Biol</a:t>
            </a:r>
            <a:r>
              <a:rPr lang="en-US" altLang="en-US" sz="2000" b="0" dirty="0">
                <a:solidFill>
                  <a:prstClr val="black">
                    <a:lumMod val="75000"/>
                    <a:lumOff val="25000"/>
                  </a:prstClr>
                </a:solidFill>
                <a:latin typeface="Roboto" charset="0"/>
                <a:ea typeface="Roboto" charset="0"/>
                <a:cs typeface="Roboto" charset="0"/>
              </a:rPr>
              <a:t>, 23(2): 236-245</a:t>
            </a:r>
            <a:r>
              <a:rPr lang="en-US" altLang="en-US" sz="2000" b="0" dirty="0" smtClean="0">
                <a:solidFill>
                  <a:prstClr val="black">
                    <a:lumMod val="75000"/>
                    <a:lumOff val="25000"/>
                  </a:prstClr>
                </a:solidFill>
                <a:latin typeface="Roboto" charset="0"/>
                <a:ea typeface="Roboto" charset="0"/>
                <a:cs typeface="Roboto" charset="0"/>
              </a:rPr>
              <a:t>.</a:t>
            </a:r>
            <a:r>
              <a:rPr lang="en-US" altLang="en-US" sz="2000" b="0" dirty="0">
                <a:solidFill>
                  <a:prstClr val="black">
                    <a:lumMod val="75000"/>
                    <a:lumOff val="25000"/>
                  </a:prstClr>
                </a:solidFill>
                <a:latin typeface="Roboto" charset="0"/>
                <a:ea typeface="Roboto" charset="0"/>
                <a:cs typeface="Roboto" charset="0"/>
              </a:rPr>
              <a:t> </a:t>
            </a: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[4] Dayhoff, M., Schwartz, R., and </a:t>
            </a:r>
            <a:r>
              <a:rPr lang="en-US" altLang="en-US" sz="2000" b="0" dirty="0" err="1">
                <a:solidFill>
                  <a:prstClr val="black">
                    <a:lumMod val="75000"/>
                    <a:lumOff val="25000"/>
                  </a:prstClr>
                </a:solidFill>
                <a:latin typeface="Roboto" charset="0"/>
                <a:ea typeface="Roboto" charset="0"/>
                <a:cs typeface="Roboto" charset="0"/>
              </a:rPr>
              <a:t>Orcutt</a:t>
            </a:r>
            <a:r>
              <a:rPr lang="en-US" altLang="en-US" sz="2000" b="0" dirty="0">
                <a:solidFill>
                  <a:prstClr val="black">
                    <a:lumMod val="75000"/>
                    <a:lumOff val="25000"/>
                  </a:prstClr>
                </a:solidFill>
                <a:latin typeface="Roboto" charset="0"/>
                <a:ea typeface="Roboto" charset="0"/>
                <a:cs typeface="Roboto" charset="0"/>
              </a:rPr>
              <a:t>, B. 1978. A Model of Evolutionary Change in Proteins, volume 5, pages 345-352. National Biomedical Research Foundation Silver Spring, MD</a:t>
            </a:r>
            <a:r>
              <a:rPr lang="en-US" altLang="en-US" sz="2000" b="0" dirty="0" smtClean="0">
                <a:solidFill>
                  <a:prstClr val="black">
                    <a:lumMod val="75000"/>
                    <a:lumOff val="25000"/>
                  </a:prstClr>
                </a:solidFill>
                <a:latin typeface="Roboto" charset="0"/>
                <a:ea typeface="Roboto" charset="0"/>
                <a:cs typeface="Roboto" charset="0"/>
              </a:rPr>
              <a:t>.</a:t>
            </a:r>
            <a:endParaRPr lang="en-US" altLang="en-US" sz="2000" b="0" dirty="0">
              <a:solidFill>
                <a:prstClr val="black">
                  <a:lumMod val="75000"/>
                  <a:lumOff val="25000"/>
                </a:prstClr>
              </a:solidFill>
              <a:latin typeface="Roboto" charset="0"/>
              <a:ea typeface="Roboto" charset="0"/>
              <a:cs typeface="Roboto" charset="0"/>
            </a:endParaRP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[5] Jones, D. T., Taylor, W. R., and Thornton, J. M. 1992. The rapid generation of mutation data matrices from protein sequences. </a:t>
            </a:r>
            <a:r>
              <a:rPr lang="en-US" altLang="en-US" sz="2000" b="0" i="1" dirty="0" err="1">
                <a:solidFill>
                  <a:prstClr val="black">
                    <a:lumMod val="75000"/>
                    <a:lumOff val="25000"/>
                  </a:prstClr>
                </a:solidFill>
                <a:latin typeface="Roboto" charset="0"/>
                <a:ea typeface="Roboto" charset="0"/>
                <a:cs typeface="Roboto" charset="0"/>
              </a:rPr>
              <a:t>Comput</a:t>
            </a:r>
            <a:r>
              <a:rPr lang="en-US" altLang="en-US" sz="2000" b="0" i="1" dirty="0">
                <a:solidFill>
                  <a:prstClr val="black">
                    <a:lumMod val="75000"/>
                    <a:lumOff val="25000"/>
                  </a:prstClr>
                </a:solidFill>
                <a:latin typeface="Roboto" charset="0"/>
                <a:ea typeface="Roboto" charset="0"/>
                <a:cs typeface="Roboto" charset="0"/>
              </a:rPr>
              <a:t> </a:t>
            </a:r>
            <a:r>
              <a:rPr lang="en-US" altLang="en-US" sz="2000" b="0" i="1" dirty="0" err="1">
                <a:solidFill>
                  <a:prstClr val="black">
                    <a:lumMod val="75000"/>
                    <a:lumOff val="25000"/>
                  </a:prstClr>
                </a:solidFill>
                <a:latin typeface="Roboto" charset="0"/>
                <a:ea typeface="Roboto" charset="0"/>
                <a:cs typeface="Roboto" charset="0"/>
              </a:rPr>
              <a:t>Appl</a:t>
            </a:r>
            <a:r>
              <a:rPr lang="en-US" altLang="en-US" sz="2000" b="0" i="1" dirty="0">
                <a:solidFill>
                  <a:prstClr val="black">
                    <a:lumMod val="75000"/>
                    <a:lumOff val="25000"/>
                  </a:prstClr>
                </a:solidFill>
                <a:latin typeface="Roboto" charset="0"/>
                <a:ea typeface="Roboto" charset="0"/>
                <a:cs typeface="Roboto" charset="0"/>
              </a:rPr>
              <a:t> </a:t>
            </a:r>
            <a:r>
              <a:rPr lang="en-US" altLang="en-US" sz="2000" b="0" i="1" dirty="0" err="1">
                <a:solidFill>
                  <a:prstClr val="black">
                    <a:lumMod val="75000"/>
                    <a:lumOff val="25000"/>
                  </a:prstClr>
                </a:solidFill>
                <a:latin typeface="Roboto" charset="0"/>
                <a:ea typeface="Roboto" charset="0"/>
                <a:cs typeface="Roboto" charset="0"/>
              </a:rPr>
              <a:t>Biosci</a:t>
            </a:r>
            <a:r>
              <a:rPr lang="en-US" altLang="en-US" sz="2000" b="0" dirty="0">
                <a:solidFill>
                  <a:prstClr val="black">
                    <a:lumMod val="75000"/>
                    <a:lumOff val="25000"/>
                  </a:prstClr>
                </a:solidFill>
                <a:latin typeface="Roboto" charset="0"/>
                <a:ea typeface="Roboto" charset="0"/>
                <a:cs typeface="Roboto" charset="0"/>
              </a:rPr>
              <a:t>, 8(3): </a:t>
            </a:r>
            <a:r>
              <a:rPr lang="en-US" altLang="en-US" sz="2000" b="0" dirty="0" smtClean="0">
                <a:solidFill>
                  <a:prstClr val="black">
                    <a:lumMod val="75000"/>
                    <a:lumOff val="25000"/>
                  </a:prstClr>
                </a:solidFill>
                <a:latin typeface="Roboto" charset="0"/>
                <a:ea typeface="Roboto" charset="0"/>
                <a:cs typeface="Roboto" charset="0"/>
              </a:rPr>
              <a:t>275-282.</a:t>
            </a:r>
          </a:p>
          <a:p>
            <a:pPr marL="457200" lvl="0" indent="-457200" algn="just" defTabSz="2885426"/>
            <a:r>
              <a:rPr lang="en-US" altLang="en-US" sz="2000" b="0" dirty="0" smtClean="0">
                <a:solidFill>
                  <a:prstClr val="black">
                    <a:lumMod val="75000"/>
                    <a:lumOff val="25000"/>
                  </a:prstClr>
                </a:solidFill>
                <a:latin typeface="Roboto" charset="0"/>
                <a:ea typeface="Roboto" charset="0"/>
                <a:cs typeface="Roboto" charset="0"/>
              </a:rPr>
              <a:t>[</a:t>
            </a:r>
            <a:r>
              <a:rPr lang="en-US" altLang="en-US" sz="2000" b="0" dirty="0">
                <a:solidFill>
                  <a:prstClr val="black">
                    <a:lumMod val="75000"/>
                    <a:lumOff val="25000"/>
                  </a:prstClr>
                </a:solidFill>
                <a:latin typeface="Roboto" charset="0"/>
                <a:ea typeface="Roboto" charset="0"/>
                <a:cs typeface="Roboto" charset="0"/>
              </a:rPr>
              <a:t>6] </a:t>
            </a:r>
            <a:r>
              <a:rPr lang="en-US" altLang="en-US" sz="2000" b="0" dirty="0" err="1">
                <a:solidFill>
                  <a:prstClr val="black">
                    <a:lumMod val="75000"/>
                    <a:lumOff val="25000"/>
                  </a:prstClr>
                </a:solidFill>
                <a:latin typeface="Roboto" charset="0"/>
                <a:ea typeface="Roboto" charset="0"/>
                <a:cs typeface="Roboto" charset="0"/>
              </a:rPr>
              <a:t>Guindon</a:t>
            </a:r>
            <a:r>
              <a:rPr lang="en-US" altLang="en-US" sz="2000" b="0" dirty="0">
                <a:solidFill>
                  <a:prstClr val="black">
                    <a:lumMod val="75000"/>
                    <a:lumOff val="25000"/>
                  </a:prstClr>
                </a:solidFill>
                <a:latin typeface="Roboto" charset="0"/>
                <a:ea typeface="Roboto" charset="0"/>
                <a:cs typeface="Roboto" charset="0"/>
              </a:rPr>
              <a:t>, S. and </a:t>
            </a:r>
            <a:r>
              <a:rPr lang="en-US" altLang="en-US" sz="2000" b="0" dirty="0" err="1">
                <a:solidFill>
                  <a:prstClr val="black">
                    <a:lumMod val="75000"/>
                    <a:lumOff val="25000"/>
                  </a:prstClr>
                </a:solidFill>
                <a:latin typeface="Roboto" charset="0"/>
                <a:ea typeface="Roboto" charset="0"/>
                <a:cs typeface="Roboto" charset="0"/>
              </a:rPr>
              <a:t>Gascuel</a:t>
            </a:r>
            <a:r>
              <a:rPr lang="en-US" altLang="en-US" sz="2000" b="0" dirty="0">
                <a:solidFill>
                  <a:prstClr val="black">
                    <a:lumMod val="75000"/>
                    <a:lumOff val="25000"/>
                  </a:prstClr>
                </a:solidFill>
                <a:latin typeface="Roboto" charset="0"/>
                <a:ea typeface="Roboto" charset="0"/>
                <a:cs typeface="Roboto" charset="0"/>
              </a:rPr>
              <a:t>, O. 2003. A simple, fast, and accurate algorithm to estimate large phylogenies by maximum likelihood. </a:t>
            </a:r>
            <a:r>
              <a:rPr lang="en-US" altLang="en-US" sz="2000" b="0" i="1" dirty="0" err="1">
                <a:solidFill>
                  <a:prstClr val="black">
                    <a:lumMod val="75000"/>
                    <a:lumOff val="25000"/>
                  </a:prstClr>
                </a:solidFill>
                <a:latin typeface="Roboto" charset="0"/>
                <a:ea typeface="Roboto" charset="0"/>
                <a:cs typeface="Roboto" charset="0"/>
              </a:rPr>
              <a:t>Syst</a:t>
            </a:r>
            <a:r>
              <a:rPr lang="en-US" altLang="en-US" sz="2000" b="0" i="1" dirty="0">
                <a:solidFill>
                  <a:prstClr val="black">
                    <a:lumMod val="75000"/>
                    <a:lumOff val="25000"/>
                  </a:prstClr>
                </a:solidFill>
                <a:latin typeface="Roboto" charset="0"/>
                <a:ea typeface="Roboto" charset="0"/>
                <a:cs typeface="Roboto" charset="0"/>
              </a:rPr>
              <a:t> </a:t>
            </a:r>
            <a:r>
              <a:rPr lang="en-US" altLang="en-US" sz="2000" b="0" i="1" dirty="0" err="1">
                <a:solidFill>
                  <a:prstClr val="black">
                    <a:lumMod val="75000"/>
                    <a:lumOff val="25000"/>
                  </a:prstClr>
                </a:solidFill>
                <a:latin typeface="Roboto" charset="0"/>
                <a:ea typeface="Roboto" charset="0"/>
                <a:cs typeface="Roboto" charset="0"/>
              </a:rPr>
              <a:t>Biol</a:t>
            </a:r>
            <a:r>
              <a:rPr lang="en-US" altLang="en-US" sz="2000" b="0" dirty="0">
                <a:solidFill>
                  <a:prstClr val="black">
                    <a:lumMod val="75000"/>
                    <a:lumOff val="25000"/>
                  </a:prstClr>
                </a:solidFill>
                <a:latin typeface="Roboto" charset="0"/>
                <a:ea typeface="Roboto" charset="0"/>
                <a:cs typeface="Roboto" charset="0"/>
              </a:rPr>
              <a:t>, 52(5): 696-704</a:t>
            </a:r>
            <a:r>
              <a:rPr lang="en-US" altLang="en-US" sz="2000" b="0" dirty="0" smtClean="0">
                <a:solidFill>
                  <a:prstClr val="black">
                    <a:lumMod val="75000"/>
                    <a:lumOff val="25000"/>
                  </a:prstClr>
                </a:solidFill>
                <a:latin typeface="Roboto" charset="0"/>
                <a:ea typeface="Roboto" charset="0"/>
                <a:cs typeface="Roboto" charset="0"/>
              </a:rPr>
              <a:t>.</a:t>
            </a:r>
            <a:endParaRPr lang="en-US" altLang="en-US" sz="2000" b="0" dirty="0">
              <a:solidFill>
                <a:prstClr val="black">
                  <a:lumMod val="75000"/>
                  <a:lumOff val="25000"/>
                </a:prstClr>
              </a:solidFill>
              <a:latin typeface="Roboto" charset="0"/>
              <a:ea typeface="Roboto" charset="0"/>
              <a:cs typeface="Roboto" charset="0"/>
            </a:endParaRP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[7] </a:t>
            </a:r>
            <a:r>
              <a:rPr lang="en-US" altLang="en-US" sz="2000" b="0" dirty="0" err="1">
                <a:solidFill>
                  <a:prstClr val="black">
                    <a:lumMod val="75000"/>
                    <a:lumOff val="25000"/>
                  </a:prstClr>
                </a:solidFill>
                <a:latin typeface="Roboto" charset="0"/>
                <a:ea typeface="Roboto" charset="0"/>
                <a:cs typeface="Roboto" charset="0"/>
              </a:rPr>
              <a:t>Biasini</a:t>
            </a:r>
            <a:r>
              <a:rPr lang="en-US" altLang="en-US" sz="2000" b="0" dirty="0">
                <a:solidFill>
                  <a:prstClr val="black">
                    <a:lumMod val="75000"/>
                    <a:lumOff val="25000"/>
                  </a:prstClr>
                </a:solidFill>
                <a:latin typeface="Roboto" charset="0"/>
                <a:ea typeface="Roboto" charset="0"/>
                <a:cs typeface="Roboto" charset="0"/>
              </a:rPr>
              <a:t>, M., et al. 2014. SWISS-MODEL: modelling protein tertiary and quaternary structure using evolutionary information</a:t>
            </a:r>
            <a:r>
              <a:rPr lang="en-US" altLang="en-US" sz="2000" b="0" dirty="0" smtClean="0">
                <a:solidFill>
                  <a:prstClr val="black">
                    <a:lumMod val="75000"/>
                    <a:lumOff val="25000"/>
                  </a:prstClr>
                </a:solidFill>
                <a:latin typeface="Roboto" charset="0"/>
                <a:ea typeface="Roboto" charset="0"/>
                <a:cs typeface="Roboto" charset="0"/>
              </a:rPr>
              <a:t>. </a:t>
            </a:r>
            <a:r>
              <a:rPr lang="en-US" altLang="en-US" sz="2000" b="0" i="1" dirty="0" smtClean="0">
                <a:solidFill>
                  <a:prstClr val="black">
                    <a:lumMod val="75000"/>
                    <a:lumOff val="25000"/>
                  </a:prstClr>
                </a:solidFill>
                <a:latin typeface="Roboto" charset="0"/>
                <a:ea typeface="Roboto" charset="0"/>
                <a:cs typeface="Roboto" charset="0"/>
              </a:rPr>
              <a:t>Nucleic </a:t>
            </a:r>
            <a:r>
              <a:rPr lang="en-US" altLang="en-US" sz="2000" b="0" i="1" dirty="0">
                <a:solidFill>
                  <a:prstClr val="black">
                    <a:lumMod val="75000"/>
                    <a:lumOff val="25000"/>
                  </a:prstClr>
                </a:solidFill>
                <a:latin typeface="Roboto" charset="0"/>
                <a:ea typeface="Roboto" charset="0"/>
                <a:cs typeface="Roboto" charset="0"/>
              </a:rPr>
              <a:t>Acids Res</a:t>
            </a:r>
            <a:r>
              <a:rPr lang="en-US" altLang="en-US" sz="2000" b="0" dirty="0">
                <a:solidFill>
                  <a:prstClr val="black">
                    <a:lumMod val="75000"/>
                    <a:lumOff val="25000"/>
                  </a:prstClr>
                </a:solidFill>
                <a:latin typeface="Roboto" charset="0"/>
                <a:ea typeface="Roboto" charset="0"/>
                <a:cs typeface="Roboto" charset="0"/>
              </a:rPr>
              <a:t>, 42: W252-W258</a:t>
            </a:r>
            <a:r>
              <a:rPr lang="en-US" altLang="en-US" sz="2000" b="0" dirty="0" smtClean="0">
                <a:solidFill>
                  <a:prstClr val="black">
                    <a:lumMod val="75000"/>
                    <a:lumOff val="25000"/>
                  </a:prstClr>
                </a:solidFill>
                <a:latin typeface="Roboto" charset="0"/>
                <a:ea typeface="Roboto" charset="0"/>
                <a:cs typeface="Roboto" charset="0"/>
              </a:rPr>
              <a:t>.</a:t>
            </a:r>
            <a:endParaRPr lang="en-US" altLang="en-US" sz="2000" b="0" dirty="0">
              <a:solidFill>
                <a:prstClr val="black">
                  <a:lumMod val="75000"/>
                  <a:lumOff val="25000"/>
                </a:prstClr>
              </a:solidFill>
              <a:latin typeface="Roboto" charset="0"/>
              <a:ea typeface="Roboto" charset="0"/>
              <a:cs typeface="Roboto" charset="0"/>
            </a:endParaRP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[8] </a:t>
            </a:r>
            <a:r>
              <a:rPr lang="en-US" altLang="en-US" sz="2000" b="0" dirty="0" err="1">
                <a:solidFill>
                  <a:prstClr val="black">
                    <a:lumMod val="75000"/>
                    <a:lumOff val="25000"/>
                  </a:prstClr>
                </a:solidFill>
                <a:latin typeface="Roboto" charset="0"/>
                <a:ea typeface="Roboto" charset="0"/>
                <a:cs typeface="Roboto" charset="0"/>
              </a:rPr>
              <a:t>Rost</a:t>
            </a:r>
            <a:r>
              <a:rPr lang="en-US" altLang="en-US" sz="2000" b="0" dirty="0">
                <a:solidFill>
                  <a:prstClr val="black">
                    <a:lumMod val="75000"/>
                    <a:lumOff val="25000"/>
                  </a:prstClr>
                </a:solidFill>
                <a:latin typeface="Roboto" charset="0"/>
                <a:ea typeface="Roboto" charset="0"/>
                <a:cs typeface="Roboto" charset="0"/>
              </a:rPr>
              <a:t>, B. and Sander, C. 1993. Prediction of protein secondary structure at better than 70% accuracy. </a:t>
            </a:r>
            <a:r>
              <a:rPr lang="en-US" altLang="en-US" sz="2000" b="0" i="1" dirty="0">
                <a:solidFill>
                  <a:prstClr val="black">
                    <a:lumMod val="75000"/>
                    <a:lumOff val="25000"/>
                  </a:prstClr>
                </a:solidFill>
                <a:latin typeface="Roboto" charset="0"/>
                <a:ea typeface="Roboto" charset="0"/>
                <a:cs typeface="Roboto" charset="0"/>
              </a:rPr>
              <a:t>J </a:t>
            </a:r>
            <a:r>
              <a:rPr lang="en-US" altLang="en-US" sz="2000" b="0" i="1" dirty="0" err="1">
                <a:solidFill>
                  <a:prstClr val="black">
                    <a:lumMod val="75000"/>
                    <a:lumOff val="25000"/>
                  </a:prstClr>
                </a:solidFill>
                <a:latin typeface="Roboto" charset="0"/>
                <a:ea typeface="Roboto" charset="0"/>
                <a:cs typeface="Roboto" charset="0"/>
              </a:rPr>
              <a:t>Mol</a:t>
            </a:r>
            <a:r>
              <a:rPr lang="en-US" altLang="en-US" sz="2000" b="0" i="1" dirty="0">
                <a:solidFill>
                  <a:prstClr val="black">
                    <a:lumMod val="75000"/>
                    <a:lumOff val="25000"/>
                  </a:prstClr>
                </a:solidFill>
                <a:latin typeface="Roboto" charset="0"/>
                <a:ea typeface="Roboto" charset="0"/>
                <a:cs typeface="Roboto" charset="0"/>
              </a:rPr>
              <a:t> </a:t>
            </a:r>
            <a:r>
              <a:rPr lang="en-US" altLang="en-US" sz="2000" b="0" i="1" dirty="0" err="1">
                <a:solidFill>
                  <a:prstClr val="black">
                    <a:lumMod val="75000"/>
                    <a:lumOff val="25000"/>
                  </a:prstClr>
                </a:solidFill>
                <a:latin typeface="Roboto" charset="0"/>
                <a:ea typeface="Roboto" charset="0"/>
                <a:cs typeface="Roboto" charset="0"/>
              </a:rPr>
              <a:t>Biol</a:t>
            </a:r>
            <a:r>
              <a:rPr lang="en-US" altLang="en-US" sz="2000" b="0" dirty="0">
                <a:solidFill>
                  <a:prstClr val="black">
                    <a:lumMod val="75000"/>
                    <a:lumOff val="25000"/>
                  </a:prstClr>
                </a:solidFill>
                <a:latin typeface="Roboto" charset="0"/>
                <a:ea typeface="Roboto" charset="0"/>
                <a:cs typeface="Roboto" charset="0"/>
              </a:rPr>
              <a:t>, 232(2): 584-599</a:t>
            </a:r>
            <a:r>
              <a:rPr lang="en-US" altLang="en-US" sz="2000" b="0" dirty="0" smtClean="0">
                <a:solidFill>
                  <a:prstClr val="black">
                    <a:lumMod val="75000"/>
                    <a:lumOff val="25000"/>
                  </a:prstClr>
                </a:solidFill>
                <a:latin typeface="Roboto" charset="0"/>
                <a:ea typeface="Roboto" charset="0"/>
                <a:cs typeface="Roboto" charset="0"/>
              </a:rPr>
              <a:t>.</a:t>
            </a:r>
            <a:endParaRPr lang="en-US" altLang="en-US" sz="2000" b="0" dirty="0">
              <a:solidFill>
                <a:prstClr val="black">
                  <a:lumMod val="75000"/>
                  <a:lumOff val="25000"/>
                </a:prstClr>
              </a:solidFill>
              <a:latin typeface="Roboto" charset="0"/>
              <a:ea typeface="Roboto" charset="0"/>
              <a:cs typeface="Roboto" charset="0"/>
            </a:endParaRP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[9] </a:t>
            </a:r>
            <a:r>
              <a:rPr lang="en-US" altLang="en-US" sz="2000" b="0" dirty="0" err="1">
                <a:solidFill>
                  <a:prstClr val="black">
                    <a:lumMod val="75000"/>
                    <a:lumOff val="25000"/>
                  </a:prstClr>
                </a:solidFill>
                <a:latin typeface="Roboto" charset="0"/>
                <a:ea typeface="Roboto" charset="0"/>
                <a:cs typeface="Roboto" charset="0"/>
              </a:rPr>
              <a:t>Drozdetskiy</a:t>
            </a:r>
            <a:r>
              <a:rPr lang="en-US" altLang="en-US" sz="2000" b="0" dirty="0">
                <a:solidFill>
                  <a:prstClr val="black">
                    <a:lumMod val="75000"/>
                    <a:lumOff val="25000"/>
                  </a:prstClr>
                </a:solidFill>
                <a:latin typeface="Roboto" charset="0"/>
                <a:ea typeface="Roboto" charset="0"/>
                <a:cs typeface="Roboto" charset="0"/>
              </a:rPr>
              <a:t>, A., et al. 2015. JPred4: a protein secondary structure prediction server. </a:t>
            </a:r>
            <a:r>
              <a:rPr lang="en-US" altLang="en-US" sz="2000" b="0" i="1" dirty="0">
                <a:solidFill>
                  <a:prstClr val="black">
                    <a:lumMod val="75000"/>
                    <a:lumOff val="25000"/>
                  </a:prstClr>
                </a:solidFill>
                <a:latin typeface="Roboto" charset="0"/>
                <a:ea typeface="Roboto" charset="0"/>
                <a:cs typeface="Roboto" charset="0"/>
              </a:rPr>
              <a:t>Nucleic Acids Res</a:t>
            </a:r>
            <a:r>
              <a:rPr lang="en-US" altLang="en-US" sz="2000" b="0" dirty="0">
                <a:solidFill>
                  <a:prstClr val="black">
                    <a:lumMod val="75000"/>
                    <a:lumOff val="25000"/>
                  </a:prstClr>
                </a:solidFill>
                <a:latin typeface="Roboto" charset="0"/>
                <a:ea typeface="Roboto" charset="0"/>
                <a:cs typeface="Roboto" charset="0"/>
              </a:rPr>
              <a:t>, 43: W389-W394</a:t>
            </a:r>
            <a:r>
              <a:rPr lang="en-US" altLang="en-US" sz="2000" b="0" dirty="0" smtClean="0">
                <a:solidFill>
                  <a:prstClr val="black">
                    <a:lumMod val="75000"/>
                    <a:lumOff val="25000"/>
                  </a:prstClr>
                </a:solidFill>
                <a:latin typeface="Roboto" charset="0"/>
                <a:ea typeface="Roboto" charset="0"/>
                <a:cs typeface="Roboto" charset="0"/>
              </a:rPr>
              <a:t>.</a:t>
            </a:r>
            <a:endParaRPr lang="en-US" altLang="en-US" sz="2000" b="0" dirty="0">
              <a:solidFill>
                <a:prstClr val="black">
                  <a:lumMod val="75000"/>
                  <a:lumOff val="25000"/>
                </a:prstClr>
              </a:solidFill>
              <a:latin typeface="Roboto" charset="0"/>
              <a:ea typeface="Roboto" charset="0"/>
              <a:cs typeface="Roboto" charset="0"/>
            </a:endParaRPr>
          </a:p>
          <a:p>
            <a:pPr marL="457200" lvl="0" indent="-457200" algn="just" defTabSz="2885426"/>
            <a:r>
              <a:rPr lang="en-US" altLang="en-US" sz="2000" b="0" dirty="0">
                <a:solidFill>
                  <a:prstClr val="black">
                    <a:lumMod val="75000"/>
                    <a:lumOff val="25000"/>
                  </a:prstClr>
                </a:solidFill>
                <a:latin typeface="Roboto" charset="0"/>
                <a:ea typeface="Roboto" charset="0"/>
                <a:cs typeface="Roboto" charset="0"/>
              </a:rPr>
              <a:t>[10] Petersen, B., et al. C. 2009. A generic method for assignment of reliability scores applied to solvent accessibility predictions. </a:t>
            </a:r>
            <a:r>
              <a:rPr lang="en-US" altLang="en-US" sz="2000" b="0" i="1" dirty="0">
                <a:solidFill>
                  <a:prstClr val="black">
                    <a:lumMod val="75000"/>
                    <a:lumOff val="25000"/>
                  </a:prstClr>
                </a:solidFill>
                <a:latin typeface="Roboto" charset="0"/>
                <a:ea typeface="Roboto" charset="0"/>
                <a:cs typeface="Roboto" charset="0"/>
              </a:rPr>
              <a:t>BMC </a:t>
            </a:r>
            <a:r>
              <a:rPr lang="en-US" altLang="en-US" sz="2000" b="0" i="1" dirty="0" err="1">
                <a:solidFill>
                  <a:prstClr val="black">
                    <a:lumMod val="75000"/>
                    <a:lumOff val="25000"/>
                  </a:prstClr>
                </a:solidFill>
                <a:latin typeface="Roboto" charset="0"/>
                <a:ea typeface="Roboto" charset="0"/>
                <a:cs typeface="Roboto" charset="0"/>
              </a:rPr>
              <a:t>Struct</a:t>
            </a:r>
            <a:r>
              <a:rPr lang="en-US" altLang="en-US" sz="2000" b="0" i="1" dirty="0">
                <a:solidFill>
                  <a:prstClr val="black">
                    <a:lumMod val="75000"/>
                    <a:lumOff val="25000"/>
                  </a:prstClr>
                </a:solidFill>
                <a:latin typeface="Roboto" charset="0"/>
                <a:ea typeface="Roboto" charset="0"/>
                <a:cs typeface="Roboto" charset="0"/>
              </a:rPr>
              <a:t> </a:t>
            </a:r>
            <a:r>
              <a:rPr lang="en-US" altLang="en-US" sz="2000" b="0" i="1" dirty="0" err="1">
                <a:solidFill>
                  <a:prstClr val="black">
                    <a:lumMod val="75000"/>
                    <a:lumOff val="25000"/>
                  </a:prstClr>
                </a:solidFill>
                <a:latin typeface="Roboto" charset="0"/>
                <a:ea typeface="Roboto" charset="0"/>
                <a:cs typeface="Roboto" charset="0"/>
              </a:rPr>
              <a:t>Biol</a:t>
            </a:r>
            <a:r>
              <a:rPr lang="en-US" altLang="en-US" sz="2000" b="0" dirty="0">
                <a:solidFill>
                  <a:prstClr val="black">
                    <a:lumMod val="75000"/>
                    <a:lumOff val="25000"/>
                  </a:prstClr>
                </a:solidFill>
                <a:latin typeface="Roboto" charset="0"/>
                <a:ea typeface="Roboto" charset="0"/>
                <a:cs typeface="Roboto" charset="0"/>
              </a:rPr>
              <a:t>, 9: 51.</a:t>
            </a:r>
          </a:p>
          <a:p>
            <a:pPr marL="457200" lvl="0" indent="-457200" algn="just" defTabSz="2885426"/>
            <a:endParaRPr lang="en-US" altLang="en-US" sz="2000" b="0" dirty="0">
              <a:solidFill>
                <a:prstClr val="black">
                  <a:lumMod val="75000"/>
                  <a:lumOff val="25000"/>
                </a:prstClr>
              </a:solidFill>
              <a:latin typeface="Roboto" charset="0"/>
              <a:ea typeface="Roboto" charset="0"/>
              <a:cs typeface="Roboto" charset="0"/>
            </a:endParaRPr>
          </a:p>
        </p:txBody>
      </p:sp>
      <p:sp>
        <p:nvSpPr>
          <p:cNvPr id="18" name="Rectangle 17"/>
          <p:cNvSpPr/>
          <p:nvPr/>
        </p:nvSpPr>
        <p:spPr>
          <a:xfrm>
            <a:off x="736249" y="9780313"/>
            <a:ext cx="31899574" cy="29905019"/>
          </a:xfrm>
          <a:prstGeom prst="rect">
            <a:avLst/>
          </a:prstGeom>
          <a:gradFill flip="none" rotWithShape="1">
            <a:gsLst>
              <a:gs pos="0">
                <a:schemeClr val="bg1">
                  <a:lumMod val="0"/>
                  <a:lumOff val="100000"/>
                </a:schemeClr>
              </a:gs>
              <a:gs pos="50000">
                <a:schemeClr val="accent5">
                  <a:lumMod val="20000"/>
                  <a:lumOff val="80000"/>
                </a:schemeClr>
              </a:gs>
            </a:gsLst>
            <a:lin ang="16200000" scaled="1"/>
            <a:tileRect/>
          </a:gra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endParaRPr lang="en-US" altLang="en-US" sz="2923" dirty="0">
              <a:solidFill>
                <a:prstClr val="black">
                  <a:lumMod val="75000"/>
                  <a:lumOff val="25000"/>
                </a:prstClr>
              </a:solidFill>
              <a:latin typeface="Roboto" charset="0"/>
              <a:ea typeface="Roboto" charset="0"/>
              <a:cs typeface="Roboto" charset="0"/>
            </a:endParaRPr>
          </a:p>
        </p:txBody>
      </p:sp>
      <p:sp>
        <p:nvSpPr>
          <p:cNvPr id="19" name="Process 18"/>
          <p:cNvSpPr/>
          <p:nvPr/>
        </p:nvSpPr>
        <p:spPr>
          <a:xfrm>
            <a:off x="374478" y="9376223"/>
            <a:ext cx="5854365" cy="769441"/>
          </a:xfrm>
          <a:prstGeom prst="flowChartProcess">
            <a:avLst/>
          </a:prstGeom>
          <a:solidFill>
            <a:srgbClr val="0070C0"/>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smtClean="0">
                <a:latin typeface="Roboto" charset="0"/>
                <a:ea typeface="Roboto" charset="0"/>
                <a:cs typeface="Roboto" charset="0"/>
              </a:rPr>
              <a:t>Results</a:t>
            </a:r>
            <a:endParaRPr lang="en-US" sz="4400" b="1" dirty="0">
              <a:latin typeface="Roboto" charset="0"/>
              <a:ea typeface="Roboto" charset="0"/>
              <a:cs typeface="Roboto" charset="0"/>
            </a:endParaRPr>
          </a:p>
        </p:txBody>
      </p:sp>
      <p:sp>
        <p:nvSpPr>
          <p:cNvPr id="20" name="Text Box 233"/>
          <p:cNvSpPr txBox="1">
            <a:spLocks noChangeArrowheads="1"/>
          </p:cNvSpPr>
          <p:nvPr/>
        </p:nvSpPr>
        <p:spPr bwMode="auto">
          <a:xfrm>
            <a:off x="729584" y="14488791"/>
            <a:ext cx="15632431" cy="4648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A secondary structure evolutionary model (Evo-SS) </a:t>
            </a:r>
            <a:r>
              <a:rPr lang="en-US" altLang="en-US" sz="2920" b="0" dirty="0">
                <a:solidFill>
                  <a:prstClr val="black">
                    <a:lumMod val="75000"/>
                    <a:lumOff val="25000"/>
                  </a:prstClr>
                </a:solidFill>
                <a:latin typeface="Roboto" charset="0"/>
                <a:ea typeface="Roboto" charset="0"/>
                <a:cs typeface="Roboto" charset="0"/>
              </a:rPr>
              <a:t>was created by following </a:t>
            </a:r>
            <a:r>
              <a:rPr lang="en-US" altLang="en-US" sz="2920" b="0" dirty="0" smtClean="0">
                <a:solidFill>
                  <a:prstClr val="black">
                    <a:lumMod val="75000"/>
                    <a:lumOff val="25000"/>
                  </a:prstClr>
                </a:solidFill>
                <a:latin typeface="Roboto" charset="0"/>
                <a:ea typeface="Roboto" charset="0"/>
                <a:cs typeface="Roboto" charset="0"/>
              </a:rPr>
              <a:t>Dayhoff’s approach [4], but </a:t>
            </a:r>
            <a:r>
              <a:rPr lang="en-US" altLang="en-US" sz="2920" b="0" dirty="0">
                <a:solidFill>
                  <a:prstClr val="black">
                    <a:lumMod val="75000"/>
                    <a:lumOff val="25000"/>
                  </a:prstClr>
                </a:solidFill>
                <a:latin typeface="Roboto" charset="0"/>
                <a:ea typeface="Roboto" charset="0"/>
                <a:cs typeface="Roboto" charset="0"/>
              </a:rPr>
              <a:t>using protein structure data of the entire </a:t>
            </a:r>
            <a:r>
              <a:rPr lang="en-US" altLang="en-US" sz="2920" b="0" dirty="0" smtClean="0">
                <a:solidFill>
                  <a:prstClr val="black">
                    <a:lumMod val="75000"/>
                    <a:lumOff val="25000"/>
                  </a:prstClr>
                </a:solidFill>
                <a:latin typeface="Roboto" charset="0"/>
                <a:ea typeface="Roboto" charset="0"/>
                <a:cs typeface="Roboto" charset="0"/>
              </a:rPr>
              <a:t>Protein Data Bank.</a:t>
            </a:r>
          </a:p>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1 </a:t>
            </a:r>
            <a:r>
              <a:rPr lang="en-US" altLang="en-US" sz="2920" b="0" dirty="0">
                <a:solidFill>
                  <a:prstClr val="black">
                    <a:lumMod val="75000"/>
                    <a:lumOff val="25000"/>
                  </a:prstClr>
                </a:solidFill>
                <a:latin typeface="Roboto" charset="0"/>
                <a:ea typeface="Roboto" charset="0"/>
                <a:cs typeface="Roboto" charset="0"/>
              </a:rPr>
              <a:t>PAM (left) and 100 PAM (right) define evolutionary change in terms of transition probabilities over distances </a:t>
            </a:r>
            <a:r>
              <a:rPr lang="en-US" altLang="en-US" sz="2920" b="0" i="1" dirty="0">
                <a:solidFill>
                  <a:prstClr val="black">
                    <a:lumMod val="75000"/>
                    <a:lumOff val="25000"/>
                  </a:prstClr>
                </a:solidFill>
                <a:latin typeface="Roboto" charset="0"/>
                <a:ea typeface="Roboto" charset="0"/>
                <a:cs typeface="Roboto" charset="0"/>
              </a:rPr>
              <a:t>t</a:t>
            </a:r>
            <a:r>
              <a:rPr lang="en-US" altLang="en-US" sz="2920" b="0" dirty="0">
                <a:solidFill>
                  <a:prstClr val="black">
                    <a:lumMod val="75000"/>
                    <a:lumOff val="25000"/>
                  </a:prstClr>
                </a:solidFill>
                <a:latin typeface="Roboto" charset="0"/>
                <a:ea typeface="Roboto" charset="0"/>
                <a:cs typeface="Roboto" charset="0"/>
              </a:rPr>
              <a:t>=0.01 and </a:t>
            </a:r>
            <a:r>
              <a:rPr lang="en-US" altLang="en-US" sz="2920" b="0" i="1" dirty="0">
                <a:solidFill>
                  <a:prstClr val="black">
                    <a:lumMod val="75000"/>
                    <a:lumOff val="25000"/>
                  </a:prstClr>
                </a:solidFill>
                <a:latin typeface="Roboto" charset="0"/>
                <a:ea typeface="Roboto" charset="0"/>
                <a:cs typeface="Roboto" charset="0"/>
              </a:rPr>
              <a:t>t</a:t>
            </a:r>
            <a:r>
              <a:rPr lang="en-US" altLang="en-US" sz="2920" b="0" dirty="0">
                <a:solidFill>
                  <a:prstClr val="black">
                    <a:lumMod val="75000"/>
                    <a:lumOff val="25000"/>
                  </a:prstClr>
                </a:solidFill>
                <a:latin typeface="Roboto" charset="0"/>
                <a:ea typeface="Roboto" charset="0"/>
                <a:cs typeface="Roboto" charset="0"/>
              </a:rPr>
              <a:t>=1.00, respectively. The values were multiplied by 10,000 and PAMs are interpreted </a:t>
            </a:r>
            <a:r>
              <a:rPr lang="en-US" altLang="en-US" sz="2920" b="0" dirty="0" smtClean="0">
                <a:solidFill>
                  <a:prstClr val="black">
                    <a:lumMod val="75000"/>
                    <a:lumOff val="25000"/>
                  </a:prstClr>
                </a:solidFill>
                <a:latin typeface="Roboto" charset="0"/>
                <a:ea typeface="Roboto" charset="0"/>
                <a:cs typeface="Roboto" charset="0"/>
              </a:rPr>
              <a:t>row-wise.</a:t>
            </a:r>
          </a:p>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The </a:t>
            </a:r>
            <a:r>
              <a:rPr lang="en-US" altLang="en-US" sz="2920" b="0" dirty="0">
                <a:solidFill>
                  <a:prstClr val="black">
                    <a:lumMod val="75000"/>
                    <a:lumOff val="25000"/>
                  </a:prstClr>
                </a:solidFill>
                <a:latin typeface="Roboto" charset="0"/>
                <a:ea typeface="Roboto" charset="0"/>
                <a:cs typeface="Roboto" charset="0"/>
              </a:rPr>
              <a:t>Helix-5 </a:t>
            </a:r>
            <a:r>
              <a:rPr lang="en-US" altLang="en-US" sz="2920" b="0" dirty="0" smtClean="0">
                <a:solidFill>
                  <a:prstClr val="black">
                    <a:lumMod val="75000"/>
                    <a:lumOff val="25000"/>
                  </a:prstClr>
                </a:solidFill>
                <a:latin typeface="Roboto" charset="0"/>
                <a:ea typeface="Roboto" charset="0"/>
                <a:cs typeface="Roboto" charset="0"/>
              </a:rPr>
              <a:t>(I) has </a:t>
            </a:r>
            <a:r>
              <a:rPr lang="en-US" altLang="en-US" sz="2920" b="0" dirty="0">
                <a:solidFill>
                  <a:prstClr val="black">
                    <a:lumMod val="75000"/>
                    <a:lumOff val="25000"/>
                  </a:prstClr>
                </a:solidFill>
                <a:latin typeface="Roboto" charset="0"/>
                <a:ea typeface="Roboto" charset="0"/>
                <a:cs typeface="Roboto" charset="0"/>
              </a:rPr>
              <a:t>the highest probability to change to the other </a:t>
            </a:r>
            <a:r>
              <a:rPr lang="en-US" altLang="en-US" sz="2920" b="0" dirty="0" smtClean="0">
                <a:solidFill>
                  <a:prstClr val="black">
                    <a:lumMod val="75000"/>
                    <a:lumOff val="25000"/>
                  </a:prstClr>
                </a:solidFill>
                <a:latin typeface="Roboto" charset="0"/>
                <a:ea typeface="Roboto" charset="0"/>
                <a:cs typeface="Roboto" charset="0"/>
              </a:rPr>
              <a:t>states.</a:t>
            </a:r>
          </a:p>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100 </a:t>
            </a:r>
            <a:r>
              <a:rPr lang="en-US" altLang="en-US" sz="2920" b="0" dirty="0">
                <a:solidFill>
                  <a:prstClr val="black">
                    <a:lumMod val="75000"/>
                    <a:lumOff val="25000"/>
                  </a:prstClr>
                </a:solidFill>
                <a:latin typeface="Roboto" charset="0"/>
                <a:ea typeface="Roboto" charset="0"/>
                <a:cs typeface="Roboto" charset="0"/>
              </a:rPr>
              <a:t>PAM displays a significant deviation in probabilities for all states; the exchangeability between </a:t>
            </a:r>
            <a:r>
              <a:rPr lang="en-US" altLang="en-US" sz="2920" b="0" dirty="0" smtClean="0">
                <a:solidFill>
                  <a:prstClr val="black">
                    <a:lumMod val="75000"/>
                    <a:lumOff val="25000"/>
                  </a:prstClr>
                </a:solidFill>
                <a:latin typeface="Roboto" charset="0"/>
                <a:ea typeface="Roboto" charset="0"/>
                <a:cs typeface="Roboto" charset="0"/>
              </a:rPr>
              <a:t>beta-sheet </a:t>
            </a:r>
            <a:r>
              <a:rPr lang="en-US" altLang="en-US" sz="2920" b="0" dirty="0">
                <a:solidFill>
                  <a:prstClr val="black">
                    <a:lumMod val="75000"/>
                    <a:lumOff val="25000"/>
                  </a:prstClr>
                </a:solidFill>
                <a:latin typeface="Roboto" charset="0"/>
                <a:ea typeface="Roboto" charset="0"/>
                <a:cs typeface="Roboto" charset="0"/>
              </a:rPr>
              <a:t>(B or E) and helix (G or H or I) increases with a longer distance.</a:t>
            </a:r>
          </a:p>
        </p:txBody>
      </p:sp>
      <p:sp>
        <p:nvSpPr>
          <p:cNvPr id="21" name="Text Box 229"/>
          <p:cNvSpPr txBox="1">
            <a:spLocks noChangeArrowheads="1"/>
          </p:cNvSpPr>
          <p:nvPr/>
        </p:nvSpPr>
        <p:spPr bwMode="auto">
          <a:xfrm>
            <a:off x="736251" y="10168311"/>
            <a:ext cx="15626112" cy="673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06163" tIns="33071" rIns="306163"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a:r>
              <a:rPr lang="en-US" altLang="en-US" sz="3943" dirty="0" smtClean="0">
                <a:uFill>
                  <a:solidFill>
                    <a:schemeClr val="tx1"/>
                  </a:solidFill>
                </a:uFill>
                <a:latin typeface="Roboto" charset="0"/>
                <a:ea typeface="Roboto" charset="0"/>
                <a:cs typeface="Roboto" charset="0"/>
              </a:rPr>
              <a:t>Evo</a:t>
            </a:r>
            <a:r>
              <a:rPr lang="en-US" altLang="en-US" sz="3943" dirty="0" smtClean="0">
                <a:latin typeface="Roboto" charset="0"/>
                <a:ea typeface="Roboto" charset="0"/>
                <a:cs typeface="Roboto" charset="0"/>
              </a:rPr>
              <a:t>lutionary model of </a:t>
            </a:r>
            <a:r>
              <a:rPr lang="en-US" altLang="en-US" sz="3943" dirty="0" smtClean="0">
                <a:uFill>
                  <a:solidFill>
                    <a:schemeClr val="tx1"/>
                  </a:solidFill>
                </a:uFill>
                <a:latin typeface="Roboto" charset="0"/>
                <a:ea typeface="Roboto" charset="0"/>
                <a:cs typeface="Roboto" charset="0"/>
              </a:rPr>
              <a:t>s</a:t>
            </a:r>
            <a:r>
              <a:rPr lang="en-US" altLang="en-US" sz="3943" dirty="0" smtClean="0">
                <a:latin typeface="Roboto" charset="0"/>
                <a:ea typeface="Roboto" charset="0"/>
                <a:cs typeface="Roboto" charset="0"/>
              </a:rPr>
              <a:t>econdary </a:t>
            </a:r>
            <a:r>
              <a:rPr lang="en-US" altLang="en-US" sz="3943" dirty="0" smtClean="0">
                <a:uFill>
                  <a:solidFill>
                    <a:schemeClr val="tx1"/>
                  </a:solidFill>
                </a:uFill>
                <a:latin typeface="Roboto" charset="0"/>
                <a:ea typeface="Roboto" charset="0"/>
                <a:cs typeface="Roboto" charset="0"/>
              </a:rPr>
              <a:t>s</a:t>
            </a:r>
            <a:r>
              <a:rPr lang="en-US" altLang="en-US" sz="3943" dirty="0" smtClean="0">
                <a:latin typeface="Roboto" charset="0"/>
                <a:ea typeface="Roboto" charset="0"/>
                <a:cs typeface="Roboto" charset="0"/>
              </a:rPr>
              <a:t>tructure (Evo-SS)</a:t>
            </a:r>
            <a:endParaRPr lang="en-US" altLang="en-US" sz="3943" dirty="0">
              <a:latin typeface="Roboto" charset="0"/>
              <a:ea typeface="Roboto" charset="0"/>
              <a:cs typeface="Roboto" charset="0"/>
            </a:endParaRPr>
          </a:p>
        </p:txBody>
      </p:sp>
      <p:pic>
        <p:nvPicPr>
          <p:cNvPr id="8" name="Picture 7"/>
          <p:cNvPicPr>
            <a:picLocks noChangeAspect="1"/>
          </p:cNvPicPr>
          <p:nvPr/>
        </p:nvPicPr>
        <p:blipFill>
          <a:blip r:embed="rId4"/>
          <a:stretch>
            <a:fillRect/>
          </a:stretch>
        </p:blipFill>
        <p:spPr>
          <a:xfrm>
            <a:off x="880295" y="10981540"/>
            <a:ext cx="8712968" cy="3211168"/>
          </a:xfrm>
          <a:prstGeom prst="rect">
            <a:avLst/>
          </a:prstGeom>
        </p:spPr>
      </p:pic>
      <p:pic>
        <p:nvPicPr>
          <p:cNvPr id="24" name="Picture 23"/>
          <p:cNvPicPr>
            <a:picLocks noChangeAspect="1"/>
          </p:cNvPicPr>
          <p:nvPr/>
        </p:nvPicPr>
        <p:blipFill rotWithShape="1">
          <a:blip r:embed="rId5"/>
          <a:srcRect l="25620"/>
          <a:stretch/>
        </p:blipFill>
        <p:spPr>
          <a:xfrm>
            <a:off x="9881295" y="10960399"/>
            <a:ext cx="6480720" cy="3211168"/>
          </a:xfrm>
          <a:prstGeom prst="rect">
            <a:avLst/>
          </a:prstGeom>
        </p:spPr>
      </p:pic>
      <p:sp>
        <p:nvSpPr>
          <p:cNvPr id="25" name="Text Box 229"/>
          <p:cNvSpPr txBox="1">
            <a:spLocks noChangeArrowheads="1"/>
          </p:cNvSpPr>
          <p:nvPr/>
        </p:nvSpPr>
        <p:spPr bwMode="auto">
          <a:xfrm>
            <a:off x="17008724" y="10034826"/>
            <a:ext cx="15626112" cy="128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06163" tIns="33071" rIns="306163"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a:r>
              <a:rPr lang="en-US" altLang="en-US" sz="3943" dirty="0">
                <a:uFill>
                  <a:solidFill>
                    <a:schemeClr val="tx1"/>
                  </a:solidFill>
                </a:uFill>
                <a:latin typeface="Roboto" charset="0"/>
                <a:ea typeface="Roboto" charset="0"/>
                <a:cs typeface="Roboto" charset="0"/>
              </a:rPr>
              <a:t>Evolutionary distances based on secondary structure are shorter than those based on amino acids </a:t>
            </a:r>
          </a:p>
        </p:txBody>
      </p:sp>
      <p:sp>
        <p:nvSpPr>
          <p:cNvPr id="64" name="Text Box 229"/>
          <p:cNvSpPr txBox="1">
            <a:spLocks noChangeArrowheads="1"/>
          </p:cNvSpPr>
          <p:nvPr/>
        </p:nvSpPr>
        <p:spPr bwMode="auto">
          <a:xfrm>
            <a:off x="736279" y="21545575"/>
            <a:ext cx="15626112" cy="1887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06163" tIns="33071" rIns="306163"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a:r>
              <a:rPr lang="en-US" altLang="en-US" sz="3943" dirty="0">
                <a:uFill>
                  <a:solidFill>
                    <a:schemeClr val="tx1"/>
                  </a:solidFill>
                </a:uFill>
                <a:latin typeface="Roboto" charset="0"/>
                <a:ea typeface="Roboto" charset="0"/>
                <a:cs typeface="Roboto" charset="0"/>
              </a:rPr>
              <a:t>Secondary structure evolutionary model extracts information not available from modern structures or the ancestral protein sequences alone</a:t>
            </a:r>
          </a:p>
        </p:txBody>
      </p:sp>
      <p:sp>
        <p:nvSpPr>
          <p:cNvPr id="83" name="Text Box 233"/>
          <p:cNvSpPr txBox="1">
            <a:spLocks noChangeArrowheads="1"/>
          </p:cNvSpPr>
          <p:nvPr/>
        </p:nvSpPr>
        <p:spPr bwMode="auto">
          <a:xfrm>
            <a:off x="736279" y="33570911"/>
            <a:ext cx="15632401" cy="567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marL="457200" lvl="0" indent="-457200" algn="just" defTabSz="2885426">
              <a:lnSpc>
                <a:spcPts val="4004"/>
              </a:lnSpc>
              <a:buSzPct val="125000"/>
              <a:buFont typeface="Wingdings" charset="2"/>
              <a:buChar char="§"/>
            </a:pPr>
            <a:r>
              <a:rPr lang="en-US" altLang="en-US" sz="2920" b="0" dirty="0">
                <a:solidFill>
                  <a:prstClr val="black">
                    <a:lumMod val="75000"/>
                    <a:lumOff val="25000"/>
                  </a:prstClr>
                </a:solidFill>
                <a:latin typeface="Roboto" charset="0"/>
                <a:ea typeface="Roboto" charset="0"/>
                <a:cs typeface="Roboto" charset="0"/>
              </a:rPr>
              <a:t>Evo-SS infers ancestral secondary structure by explicitly considering the evolutionary relationships between ancestral </a:t>
            </a:r>
            <a:r>
              <a:rPr lang="en-US" altLang="en-US" sz="2920" b="0" dirty="0" smtClean="0">
                <a:solidFill>
                  <a:prstClr val="black">
                    <a:lumMod val="75000"/>
                    <a:lumOff val="25000"/>
                  </a:prstClr>
                </a:solidFill>
                <a:latin typeface="Roboto" charset="0"/>
                <a:ea typeface="Roboto" charset="0"/>
                <a:cs typeface="Roboto" charset="0"/>
              </a:rPr>
              <a:t>protein sequence and </a:t>
            </a:r>
            <a:r>
              <a:rPr lang="en-US" altLang="en-US" sz="2920" b="0" dirty="0">
                <a:solidFill>
                  <a:prstClr val="black">
                    <a:lumMod val="75000"/>
                    <a:lumOff val="25000"/>
                  </a:prstClr>
                </a:solidFill>
                <a:latin typeface="Roboto" charset="0"/>
                <a:ea typeface="Roboto" charset="0"/>
                <a:cs typeface="Roboto" charset="0"/>
              </a:rPr>
              <a:t>modern protein structures.</a:t>
            </a:r>
          </a:p>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Evo-SS-based </a:t>
            </a:r>
            <a:r>
              <a:rPr lang="en-US" altLang="en-US" sz="2920" b="0" dirty="0">
                <a:solidFill>
                  <a:prstClr val="black">
                    <a:lumMod val="75000"/>
                    <a:lumOff val="25000"/>
                  </a:prstClr>
                </a:solidFill>
                <a:latin typeface="Roboto" charset="0"/>
                <a:ea typeface="Roboto" charset="0"/>
                <a:cs typeface="Roboto" charset="0"/>
              </a:rPr>
              <a:t>prediction outperforms the accuracy of homology modelling for 5 of 7 protein structures by 15% or </a:t>
            </a:r>
            <a:r>
              <a:rPr lang="en-US" altLang="en-US" sz="2920" b="0" dirty="0" smtClean="0">
                <a:solidFill>
                  <a:prstClr val="black">
                    <a:lumMod val="75000"/>
                    <a:lumOff val="25000"/>
                  </a:prstClr>
                </a:solidFill>
                <a:latin typeface="Roboto" charset="0"/>
                <a:ea typeface="Roboto" charset="0"/>
                <a:cs typeface="Roboto" charset="0"/>
              </a:rPr>
              <a:t>over. Evo-SS </a:t>
            </a:r>
            <a:r>
              <a:rPr lang="en-US" altLang="en-US" sz="2920" b="0" dirty="0">
                <a:solidFill>
                  <a:prstClr val="black">
                    <a:lumMod val="75000"/>
                    <a:lumOff val="25000"/>
                  </a:prstClr>
                </a:solidFill>
                <a:latin typeface="Roboto" charset="0"/>
                <a:ea typeface="Roboto" charset="0"/>
                <a:cs typeface="Roboto" charset="0"/>
              </a:rPr>
              <a:t>based prediction outperforms all sequence-based </a:t>
            </a:r>
            <a:r>
              <a:rPr lang="en-US" altLang="en-US" sz="2920" b="0" dirty="0" smtClean="0">
                <a:solidFill>
                  <a:prstClr val="black">
                    <a:lumMod val="75000"/>
                    <a:lumOff val="25000"/>
                  </a:prstClr>
                </a:solidFill>
                <a:latin typeface="Roboto" charset="0"/>
                <a:ea typeface="Roboto" charset="0"/>
                <a:cs typeface="Roboto" charset="0"/>
              </a:rPr>
              <a:t>predictors.</a:t>
            </a:r>
          </a:p>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The </a:t>
            </a:r>
            <a:r>
              <a:rPr lang="en-US" altLang="en-US" sz="2920" b="0" dirty="0">
                <a:solidFill>
                  <a:prstClr val="black">
                    <a:lumMod val="75000"/>
                    <a:lumOff val="25000"/>
                  </a:prstClr>
                </a:solidFill>
                <a:latin typeface="Roboto" charset="0"/>
                <a:ea typeface="Roboto" charset="0"/>
                <a:cs typeface="Roboto" charset="0"/>
              </a:rPr>
              <a:t>best accuracy homology modelling achieves is at 79%, which demonstrates that ancestral protein structures are poorly represented by modern protein structures. </a:t>
            </a:r>
            <a:endParaRPr lang="en-US" altLang="en-US" sz="2920" b="0" dirty="0" smtClean="0">
              <a:solidFill>
                <a:prstClr val="black">
                  <a:lumMod val="75000"/>
                  <a:lumOff val="25000"/>
                </a:prstClr>
              </a:solidFill>
              <a:latin typeface="Roboto" charset="0"/>
              <a:ea typeface="Roboto" charset="0"/>
              <a:cs typeface="Roboto" charset="0"/>
            </a:endParaRPr>
          </a:p>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The </a:t>
            </a:r>
            <a:r>
              <a:rPr lang="en-US" altLang="en-US" sz="2920" b="0" dirty="0">
                <a:solidFill>
                  <a:prstClr val="black">
                    <a:lumMod val="75000"/>
                    <a:lumOff val="25000"/>
                  </a:prstClr>
                </a:solidFill>
                <a:latin typeface="Roboto" charset="0"/>
                <a:ea typeface="Roboto" charset="0"/>
                <a:cs typeface="Roboto" charset="0"/>
              </a:rPr>
              <a:t>single best accuracy is obtained for the ancestral protein structure with modern proteins exhibiting the greatest structural variation as determined by </a:t>
            </a:r>
            <a:r>
              <a:rPr lang="en-US" altLang="en-US" sz="2920" b="0" dirty="0" smtClean="0">
                <a:solidFill>
                  <a:prstClr val="black">
                    <a:lumMod val="75000"/>
                    <a:lumOff val="25000"/>
                  </a:prstClr>
                </a:solidFill>
                <a:latin typeface="Roboto" charset="0"/>
                <a:ea typeface="Roboto" charset="0"/>
                <a:cs typeface="Roboto" charset="0"/>
              </a:rPr>
              <a:t>RMSD.</a:t>
            </a:r>
          </a:p>
          <a:p>
            <a:pPr marL="457200" lvl="0" indent="-457200" algn="just" defTabSz="2885426">
              <a:lnSpc>
                <a:spcPts val="40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Ancestral secondary </a:t>
            </a:r>
            <a:r>
              <a:rPr lang="en-US" altLang="en-US" sz="2920" b="0" dirty="0">
                <a:solidFill>
                  <a:prstClr val="black">
                    <a:lumMod val="75000"/>
                    <a:lumOff val="25000"/>
                  </a:prstClr>
                </a:solidFill>
                <a:latin typeface="Roboto" charset="0"/>
                <a:ea typeface="Roboto" charset="0"/>
                <a:cs typeface="Roboto" charset="0"/>
              </a:rPr>
              <a:t>structure is recovered more accurately in the more compact trees, i.e. the trees with a small mean edge-length</a:t>
            </a:r>
            <a:r>
              <a:rPr lang="en-US" altLang="en-US" sz="2920" b="0" dirty="0" smtClean="0">
                <a:solidFill>
                  <a:prstClr val="black">
                    <a:lumMod val="75000"/>
                    <a:lumOff val="25000"/>
                  </a:prstClr>
                </a:solidFill>
                <a:latin typeface="Roboto" charset="0"/>
                <a:ea typeface="Roboto" charset="0"/>
                <a:cs typeface="Roboto" charset="0"/>
              </a:rPr>
              <a:t>.</a:t>
            </a:r>
            <a:endParaRPr lang="en-US" altLang="en-US" sz="2920" dirty="0">
              <a:solidFill>
                <a:srgbClr val="FF0000"/>
              </a:solidFill>
              <a:latin typeface="Roboto" charset="0"/>
              <a:ea typeface="Roboto" charset="0"/>
              <a:cs typeface="Roboto" charset="0"/>
            </a:endParaRPr>
          </a:p>
        </p:txBody>
      </p:sp>
      <p:sp>
        <p:nvSpPr>
          <p:cNvPr id="87" name="Rectangle 86"/>
          <p:cNvSpPr/>
          <p:nvPr/>
        </p:nvSpPr>
        <p:spPr>
          <a:xfrm>
            <a:off x="736279" y="39825004"/>
            <a:ext cx="15625764" cy="6418871"/>
          </a:xfrm>
          <a:prstGeom prst="rect">
            <a:avLst/>
          </a:prstGeom>
          <a:gradFill flip="none" rotWithShape="1">
            <a:gsLst>
              <a:gs pos="0">
                <a:schemeClr val="bg1">
                  <a:lumMod val="0"/>
                  <a:lumOff val="100000"/>
                </a:schemeClr>
              </a:gs>
              <a:gs pos="50000">
                <a:schemeClr val="accent5">
                  <a:lumMod val="20000"/>
                  <a:lumOff val="80000"/>
                </a:schemeClr>
              </a:gs>
            </a:gsLst>
            <a:lin ang="16200000" scaled="1"/>
            <a:tileRect/>
          </a:gra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endParaRPr lang="en-US" altLang="en-US" sz="2923" dirty="0">
              <a:solidFill>
                <a:prstClr val="black">
                  <a:lumMod val="75000"/>
                  <a:lumOff val="25000"/>
                </a:prstClr>
              </a:solidFill>
              <a:latin typeface="Roboto" charset="0"/>
              <a:ea typeface="Roboto" charset="0"/>
              <a:cs typeface="Roboto" charset="0"/>
            </a:endParaRPr>
          </a:p>
        </p:txBody>
      </p:sp>
      <p:sp>
        <p:nvSpPr>
          <p:cNvPr id="89" name="Text Box 233"/>
          <p:cNvSpPr txBox="1">
            <a:spLocks noChangeArrowheads="1"/>
          </p:cNvSpPr>
          <p:nvPr/>
        </p:nvSpPr>
        <p:spPr bwMode="auto">
          <a:xfrm>
            <a:off x="736251" y="40267655"/>
            <a:ext cx="15624777" cy="5970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marL="457200" lvl="0" indent="-457200" algn="just" defTabSz="2885426">
              <a:lnSpc>
                <a:spcPts val="3256"/>
              </a:lnSpc>
              <a:buSzPct val="125000"/>
              <a:buFont typeface="Wingdings" charset="2"/>
              <a:buChar char="§"/>
              <a:defRPr/>
            </a:pPr>
            <a:r>
              <a:rPr lang="en-US" altLang="en-US" sz="2630" b="0" dirty="0" smtClean="0">
                <a:solidFill>
                  <a:prstClr val="black">
                    <a:lumMod val="75000"/>
                    <a:lumOff val="25000"/>
                  </a:prstClr>
                </a:solidFill>
                <a:latin typeface="Roboto" charset="0"/>
                <a:ea typeface="Roboto" charset="0"/>
                <a:cs typeface="Roboto" charset="0"/>
              </a:rPr>
              <a:t>To </a:t>
            </a:r>
            <a:r>
              <a:rPr lang="en-US" altLang="en-US" sz="2630" b="0" dirty="0">
                <a:solidFill>
                  <a:prstClr val="black">
                    <a:lumMod val="75000"/>
                    <a:lumOff val="25000"/>
                  </a:prstClr>
                </a:solidFill>
                <a:latin typeface="Roboto" charset="0"/>
                <a:ea typeface="Roboto" charset="0"/>
                <a:cs typeface="Roboto" charset="0"/>
              </a:rPr>
              <a:t>create the secondary structure evolutionary model, </a:t>
            </a:r>
            <a:r>
              <a:rPr lang="en-GB" altLang="en-US" sz="2630" b="0" dirty="0" smtClean="0">
                <a:solidFill>
                  <a:prstClr val="black">
                    <a:lumMod val="75000"/>
                    <a:lumOff val="25000"/>
                  </a:prstClr>
                </a:solidFill>
                <a:latin typeface="Roboto" charset="0"/>
                <a:ea typeface="Roboto" charset="0"/>
                <a:cs typeface="Roboto" charset="0"/>
              </a:rPr>
              <a:t>crystal</a:t>
            </a:r>
            <a:r>
              <a:rPr lang="en-US" altLang="en-US" sz="2630" b="0" dirty="0" smtClean="0">
                <a:solidFill>
                  <a:prstClr val="black">
                    <a:lumMod val="75000"/>
                    <a:lumOff val="25000"/>
                  </a:prstClr>
                </a:solidFill>
                <a:latin typeface="Roboto" charset="0"/>
                <a:ea typeface="Roboto" charset="0"/>
                <a:cs typeface="Roboto" charset="0"/>
              </a:rPr>
              <a:t> </a:t>
            </a:r>
            <a:r>
              <a:rPr lang="en-US" altLang="en-US" sz="2630" b="0" dirty="0">
                <a:solidFill>
                  <a:prstClr val="black">
                    <a:lumMod val="75000"/>
                    <a:lumOff val="25000"/>
                  </a:prstClr>
                </a:solidFill>
                <a:latin typeface="Roboto" charset="0"/>
                <a:ea typeface="Roboto" charset="0"/>
                <a:cs typeface="Roboto" charset="0"/>
              </a:rPr>
              <a:t>structures with a resolution &lt;</a:t>
            </a:r>
            <a:r>
              <a:rPr lang="en-US" altLang="en-US" sz="2630" b="0" dirty="0" smtClean="0">
                <a:solidFill>
                  <a:prstClr val="black">
                    <a:lumMod val="75000"/>
                    <a:lumOff val="25000"/>
                  </a:prstClr>
                </a:solidFill>
                <a:latin typeface="Roboto" charset="0"/>
                <a:ea typeface="Roboto" charset="0"/>
                <a:cs typeface="Roboto" charset="0"/>
              </a:rPr>
              <a:t>4.0 </a:t>
            </a:r>
            <a:r>
              <a:rPr lang="en-US" altLang="en-US" sz="2630" b="0" dirty="0" err="1" smtClean="0">
                <a:solidFill>
                  <a:prstClr val="black">
                    <a:lumMod val="75000"/>
                    <a:lumOff val="25000"/>
                  </a:prstClr>
                </a:solidFill>
                <a:latin typeface="Roboto" charset="0"/>
                <a:ea typeface="Roboto" charset="0"/>
                <a:cs typeface="Roboto" charset="0"/>
              </a:rPr>
              <a:t>Å</a:t>
            </a:r>
            <a:r>
              <a:rPr lang="en-US" altLang="en-US" sz="2630" b="0" dirty="0" smtClean="0">
                <a:solidFill>
                  <a:prstClr val="black">
                    <a:lumMod val="75000"/>
                    <a:lumOff val="25000"/>
                  </a:prstClr>
                </a:solidFill>
                <a:latin typeface="Roboto" charset="0"/>
                <a:ea typeface="Roboto" charset="0"/>
                <a:cs typeface="Roboto" charset="0"/>
              </a:rPr>
              <a:t> </a:t>
            </a:r>
            <a:r>
              <a:rPr lang="en-US" altLang="en-US" sz="2630" b="0" dirty="0">
                <a:solidFill>
                  <a:prstClr val="black">
                    <a:lumMod val="75000"/>
                    <a:lumOff val="25000"/>
                  </a:prstClr>
                </a:solidFill>
                <a:latin typeface="Roboto" charset="0"/>
                <a:ea typeface="Roboto" charset="0"/>
                <a:cs typeface="Roboto" charset="0"/>
              </a:rPr>
              <a:t>were retrieved from the PDB. Secondary structure was assigned by </a:t>
            </a:r>
            <a:r>
              <a:rPr lang="en-US" altLang="en-US" sz="2630" b="0" dirty="0" smtClean="0">
                <a:solidFill>
                  <a:prstClr val="black">
                    <a:lumMod val="75000"/>
                    <a:lumOff val="25000"/>
                  </a:prstClr>
                </a:solidFill>
                <a:latin typeface="Roboto" charset="0"/>
                <a:ea typeface="Roboto" charset="0"/>
                <a:cs typeface="Roboto" charset="0"/>
              </a:rPr>
              <a:t>DSSP. </a:t>
            </a:r>
            <a:r>
              <a:rPr lang="en-US" altLang="en-US" sz="2630" b="0" dirty="0">
                <a:solidFill>
                  <a:prstClr val="black">
                    <a:lumMod val="75000"/>
                    <a:lumOff val="25000"/>
                  </a:prstClr>
                </a:solidFill>
                <a:latin typeface="Roboto" charset="0"/>
                <a:ea typeface="Roboto" charset="0"/>
                <a:cs typeface="Roboto" charset="0"/>
              </a:rPr>
              <a:t>Amino acid sequences were </a:t>
            </a:r>
            <a:r>
              <a:rPr lang="en-US" altLang="en-US" sz="2630" b="0" dirty="0" smtClean="0">
                <a:solidFill>
                  <a:prstClr val="black">
                    <a:lumMod val="75000"/>
                    <a:lumOff val="25000"/>
                  </a:prstClr>
                </a:solidFill>
                <a:latin typeface="Roboto" charset="0"/>
                <a:ea typeface="Roboto" charset="0"/>
                <a:cs typeface="Roboto" charset="0"/>
              </a:rPr>
              <a:t>clustered </a:t>
            </a:r>
            <a:r>
              <a:rPr lang="en-US" altLang="en-US" sz="2630" b="0" dirty="0">
                <a:solidFill>
                  <a:prstClr val="black">
                    <a:lumMod val="75000"/>
                    <a:lumOff val="25000"/>
                  </a:prstClr>
                </a:solidFill>
                <a:latin typeface="Roboto" charset="0"/>
                <a:ea typeface="Roboto" charset="0"/>
                <a:cs typeface="Roboto" charset="0"/>
              </a:rPr>
              <a:t>at 85% sequence identity. Short peptides and clusters with less than 5 proteins were excluded. Final dataset has 75 clusters, collectively containing 592 proteins. Dayhoff’s approach and eigenvalue decomposition were applied to the final dataset to derive Evo-SS</a:t>
            </a:r>
            <a:r>
              <a:rPr lang="en-US" altLang="en-US" sz="2630" b="0" dirty="0" smtClean="0">
                <a:solidFill>
                  <a:prstClr val="black">
                    <a:lumMod val="75000"/>
                    <a:lumOff val="25000"/>
                  </a:prstClr>
                </a:solidFill>
                <a:latin typeface="Roboto" charset="0"/>
                <a:ea typeface="Roboto" charset="0"/>
                <a:cs typeface="Roboto" charset="0"/>
              </a:rPr>
              <a:t>.</a:t>
            </a:r>
          </a:p>
          <a:p>
            <a:pPr marL="457200" lvl="0" indent="-457200" algn="just" defTabSz="2885426">
              <a:lnSpc>
                <a:spcPts val="3256"/>
              </a:lnSpc>
              <a:buSzPct val="125000"/>
              <a:buFont typeface="Wingdings" charset="2"/>
              <a:buChar char="§"/>
              <a:defRPr/>
            </a:pPr>
            <a:r>
              <a:rPr lang="en-US" altLang="en-US" sz="2630" b="0" dirty="0" smtClean="0">
                <a:solidFill>
                  <a:prstClr val="black">
                    <a:lumMod val="75000"/>
                    <a:lumOff val="25000"/>
                  </a:prstClr>
                </a:solidFill>
                <a:latin typeface="Roboto" charset="0"/>
                <a:ea typeface="Roboto" charset="0"/>
                <a:cs typeface="Roboto" charset="0"/>
              </a:rPr>
              <a:t>The secondary structure phylogenetic tree inference method broadly follows the approach of PHYML [6]. Tree likelihood was calculated by Evo-SS. Multiple secondary structure alignment was created from jCE, by superposing 28 TIR structure data.</a:t>
            </a:r>
          </a:p>
          <a:p>
            <a:pPr marL="457200" lvl="0" indent="-457200" algn="just" defTabSz="2885426">
              <a:lnSpc>
                <a:spcPts val="3256"/>
              </a:lnSpc>
              <a:buSzPct val="125000"/>
              <a:buFont typeface="Wingdings" charset="2"/>
              <a:buChar char="§"/>
              <a:defRPr/>
            </a:pPr>
            <a:r>
              <a:rPr lang="en-US" altLang="en-US" sz="2630" b="0" dirty="0" smtClean="0">
                <a:solidFill>
                  <a:prstClr val="black">
                    <a:lumMod val="75000"/>
                    <a:lumOff val="25000"/>
                  </a:prstClr>
                </a:solidFill>
                <a:latin typeface="Roboto" charset="0"/>
                <a:ea typeface="Roboto" charset="0"/>
                <a:cs typeface="Roboto" charset="0"/>
              </a:rPr>
              <a:t>Three independent studies were </a:t>
            </a:r>
            <a:r>
              <a:rPr lang="en-US" altLang="en-US" sz="2630" b="0" dirty="0">
                <a:solidFill>
                  <a:prstClr val="black">
                    <a:lumMod val="75000"/>
                    <a:lumOff val="25000"/>
                  </a:prstClr>
                </a:solidFill>
                <a:latin typeface="Roboto" charset="0"/>
                <a:ea typeface="Roboto" charset="0"/>
                <a:cs typeface="Roboto" charset="0"/>
              </a:rPr>
              <a:t>used to compare ancestral secondary structure </a:t>
            </a:r>
            <a:r>
              <a:rPr lang="en-US" altLang="en-US" sz="2630" b="0" dirty="0" smtClean="0">
                <a:solidFill>
                  <a:prstClr val="black">
                    <a:lumMod val="75000"/>
                    <a:lumOff val="25000"/>
                  </a:prstClr>
                </a:solidFill>
                <a:latin typeface="Roboto" charset="0"/>
                <a:ea typeface="Roboto" charset="0"/>
                <a:cs typeface="Roboto" charset="0"/>
              </a:rPr>
              <a:t>inferences. Ancestral </a:t>
            </a:r>
            <a:r>
              <a:rPr lang="en-US" altLang="en-US" sz="2630" b="0" dirty="0">
                <a:solidFill>
                  <a:prstClr val="black">
                    <a:lumMod val="75000"/>
                    <a:lumOff val="25000"/>
                  </a:prstClr>
                </a:solidFill>
                <a:latin typeface="Roboto" charset="0"/>
                <a:ea typeface="Roboto" charset="0"/>
                <a:cs typeface="Roboto" charset="0"/>
              </a:rPr>
              <a:t>secondary structure was determined with the greatest maximum joint probability from </a:t>
            </a:r>
            <a:r>
              <a:rPr lang="en-US" altLang="en-US" sz="2630" b="0" dirty="0" smtClean="0">
                <a:solidFill>
                  <a:prstClr val="black">
                    <a:lumMod val="75000"/>
                    <a:lumOff val="25000"/>
                  </a:prstClr>
                </a:solidFill>
                <a:latin typeface="Roboto" charset="0"/>
                <a:ea typeface="Roboto" charset="0"/>
                <a:cs typeface="Roboto" charset="0"/>
              </a:rPr>
              <a:t>their </a:t>
            </a:r>
            <a:r>
              <a:rPr lang="en-US" altLang="en-US" sz="2630" b="0" dirty="0">
                <a:solidFill>
                  <a:prstClr val="black">
                    <a:lumMod val="75000"/>
                    <a:lumOff val="25000"/>
                  </a:prstClr>
                </a:solidFill>
                <a:latin typeface="Roboto" charset="0"/>
                <a:ea typeface="Roboto" charset="0"/>
                <a:cs typeface="Roboto" charset="0"/>
              </a:rPr>
              <a:t>published phylogenetic trees and </a:t>
            </a:r>
            <a:r>
              <a:rPr lang="en-US" altLang="en-US" sz="2630" b="0" dirty="0" smtClean="0">
                <a:solidFill>
                  <a:prstClr val="black">
                    <a:lumMod val="75000"/>
                    <a:lumOff val="25000"/>
                  </a:prstClr>
                </a:solidFill>
                <a:latin typeface="Roboto" charset="0"/>
                <a:ea typeface="Roboto" charset="0"/>
                <a:cs typeface="Roboto" charset="0"/>
              </a:rPr>
              <a:t>multiple </a:t>
            </a:r>
            <a:r>
              <a:rPr lang="en-US" altLang="en-US" sz="2630" b="0" dirty="0">
                <a:solidFill>
                  <a:prstClr val="black">
                    <a:lumMod val="75000"/>
                    <a:lumOff val="25000"/>
                  </a:prstClr>
                </a:solidFill>
                <a:latin typeface="Roboto" charset="0"/>
                <a:ea typeface="Roboto" charset="0"/>
                <a:cs typeface="Roboto" charset="0"/>
              </a:rPr>
              <a:t>secondary structure </a:t>
            </a:r>
            <a:r>
              <a:rPr lang="en-US" altLang="en-US" sz="2630" b="0" dirty="0" smtClean="0">
                <a:solidFill>
                  <a:prstClr val="black">
                    <a:lumMod val="75000"/>
                    <a:lumOff val="25000"/>
                  </a:prstClr>
                </a:solidFill>
                <a:latin typeface="Roboto" charset="0"/>
                <a:ea typeface="Roboto" charset="0"/>
                <a:cs typeface="Roboto" charset="0"/>
              </a:rPr>
              <a:t>alignments, </a:t>
            </a:r>
            <a:r>
              <a:rPr lang="en-US" altLang="en-US" sz="2630" b="0" dirty="0">
                <a:solidFill>
                  <a:prstClr val="black">
                    <a:lumMod val="75000"/>
                    <a:lumOff val="25000"/>
                  </a:prstClr>
                </a:solidFill>
                <a:latin typeface="Roboto" charset="0"/>
                <a:ea typeface="Roboto" charset="0"/>
                <a:cs typeface="Roboto" charset="0"/>
              </a:rPr>
              <a:t>using the </a:t>
            </a:r>
            <a:r>
              <a:rPr lang="en-US" altLang="en-US" sz="2630" b="0" dirty="0" smtClean="0">
                <a:solidFill>
                  <a:prstClr val="black">
                    <a:lumMod val="75000"/>
                    <a:lumOff val="25000"/>
                  </a:prstClr>
                </a:solidFill>
                <a:latin typeface="Roboto" charset="0"/>
                <a:ea typeface="Roboto" charset="0"/>
                <a:cs typeface="Roboto" charset="0"/>
              </a:rPr>
              <a:t>Evo-SS. SWISS-MODEL [7] was </a:t>
            </a:r>
            <a:r>
              <a:rPr lang="en-US" altLang="en-US" sz="2630" b="0" dirty="0">
                <a:solidFill>
                  <a:prstClr val="black">
                    <a:lumMod val="75000"/>
                    <a:lumOff val="25000"/>
                  </a:prstClr>
                </a:solidFill>
                <a:latin typeface="Roboto" charset="0"/>
                <a:ea typeface="Roboto" charset="0"/>
                <a:cs typeface="Roboto" charset="0"/>
              </a:rPr>
              <a:t>used to model the 3D structure by assigning each modern protein structure in the tree as a </a:t>
            </a:r>
            <a:r>
              <a:rPr lang="en-US" altLang="en-US" sz="2630" b="0" dirty="0" smtClean="0">
                <a:solidFill>
                  <a:prstClr val="black">
                    <a:lumMod val="75000"/>
                    <a:lumOff val="25000"/>
                  </a:prstClr>
                </a:solidFill>
                <a:latin typeface="Roboto" charset="0"/>
                <a:ea typeface="Roboto" charset="0"/>
                <a:cs typeface="Roboto" charset="0"/>
              </a:rPr>
              <a:t>template. PROF [8], JPred [9], and NetSurfP [10] were </a:t>
            </a:r>
            <a:r>
              <a:rPr lang="en-US" altLang="en-US" sz="2630" b="0" dirty="0">
                <a:solidFill>
                  <a:prstClr val="black">
                    <a:lumMod val="75000"/>
                    <a:lumOff val="25000"/>
                  </a:prstClr>
                </a:solidFill>
                <a:latin typeface="Roboto" charset="0"/>
                <a:ea typeface="Roboto" charset="0"/>
                <a:cs typeface="Roboto" charset="0"/>
              </a:rPr>
              <a:t>used to predict ancestral secondary structure by ancestral protein sequences.</a:t>
            </a:r>
            <a:endParaRPr lang="en-US" altLang="en-US" sz="2630" b="0" dirty="0" smtClean="0">
              <a:solidFill>
                <a:prstClr val="black">
                  <a:lumMod val="75000"/>
                  <a:lumOff val="25000"/>
                </a:prstClr>
              </a:solidFill>
              <a:latin typeface="Roboto" charset="0"/>
              <a:ea typeface="Roboto" charset="0"/>
              <a:cs typeface="Roboto" charset="0"/>
            </a:endParaRPr>
          </a:p>
        </p:txBody>
      </p:sp>
      <p:sp>
        <p:nvSpPr>
          <p:cNvPr id="88" name="Process 87"/>
          <p:cNvSpPr/>
          <p:nvPr/>
        </p:nvSpPr>
        <p:spPr>
          <a:xfrm>
            <a:off x="390676" y="39475639"/>
            <a:ext cx="5854365" cy="769441"/>
          </a:xfrm>
          <a:prstGeom prst="flowChartProcess">
            <a:avLst/>
          </a:prstGeom>
          <a:solidFill>
            <a:srgbClr val="0070C0"/>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latin typeface="Roboto" charset="0"/>
                <a:ea typeface="Roboto" charset="0"/>
                <a:cs typeface="Roboto" charset="0"/>
              </a:rPr>
              <a:t>Materials </a:t>
            </a:r>
            <a:r>
              <a:rPr lang="en-US" sz="4400" b="1" dirty="0" smtClean="0">
                <a:latin typeface="Roboto" charset="0"/>
                <a:ea typeface="Roboto" charset="0"/>
                <a:cs typeface="Roboto" charset="0"/>
              </a:rPr>
              <a:t>&amp; methods</a:t>
            </a:r>
            <a:endParaRPr lang="en-US" sz="4400" b="1" dirty="0">
              <a:latin typeface="Roboto" charset="0"/>
              <a:ea typeface="Roboto" charset="0"/>
              <a:cs typeface="Roboto" charset="0"/>
            </a:endParaRPr>
          </a:p>
        </p:txBody>
      </p:sp>
      <p:sp>
        <p:nvSpPr>
          <p:cNvPr id="46" name="Text Box 233"/>
          <p:cNvSpPr txBox="1">
            <a:spLocks noChangeArrowheads="1"/>
          </p:cNvSpPr>
          <p:nvPr/>
        </p:nvSpPr>
        <p:spPr bwMode="auto">
          <a:xfrm>
            <a:off x="23562815" y="11176423"/>
            <a:ext cx="9032369" cy="7037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marL="457200" lvl="0" indent="-457200" algn="just" defTabSz="2885426">
              <a:lnSpc>
                <a:spcPts val="3904"/>
              </a:lnSpc>
              <a:buSzPct val="125000"/>
              <a:buFont typeface="Wingdings" charset="2"/>
              <a:buChar char="§"/>
            </a:pPr>
            <a:r>
              <a:rPr lang="en-US" altLang="en-US" sz="2920" b="0" dirty="0">
                <a:solidFill>
                  <a:prstClr val="black">
                    <a:lumMod val="75000"/>
                    <a:lumOff val="25000"/>
                  </a:prstClr>
                </a:solidFill>
                <a:latin typeface="Roboto" charset="0"/>
                <a:ea typeface="Roboto" charset="0"/>
                <a:cs typeface="Roboto" charset="0"/>
              </a:rPr>
              <a:t>Evolutionary distances are investigated at both the secondary structure (Evo-SS) and amino acid (</a:t>
            </a:r>
            <a:r>
              <a:rPr lang="en-US" altLang="en-US" sz="2920" b="0" dirty="0" smtClean="0">
                <a:solidFill>
                  <a:prstClr val="black">
                    <a:lumMod val="75000"/>
                    <a:lumOff val="25000"/>
                  </a:prstClr>
                </a:solidFill>
                <a:latin typeface="Roboto" charset="0"/>
                <a:ea typeface="Roboto" charset="0"/>
                <a:cs typeface="Roboto" charset="0"/>
              </a:rPr>
              <a:t>JTT [5]) </a:t>
            </a:r>
            <a:r>
              <a:rPr lang="en-US" altLang="en-US" sz="2920" b="0" dirty="0">
                <a:solidFill>
                  <a:prstClr val="black">
                    <a:lumMod val="75000"/>
                    <a:lumOff val="25000"/>
                  </a:prstClr>
                </a:solidFill>
                <a:latin typeface="Roboto" charset="0"/>
                <a:ea typeface="Roboto" charset="0"/>
                <a:cs typeface="Roboto" charset="0"/>
              </a:rPr>
              <a:t>levels </a:t>
            </a:r>
            <a:r>
              <a:rPr lang="en-US" altLang="en-US" sz="2920" b="0" dirty="0" smtClean="0">
                <a:solidFill>
                  <a:prstClr val="black">
                    <a:lumMod val="75000"/>
                    <a:lumOff val="25000"/>
                  </a:prstClr>
                </a:solidFill>
                <a:latin typeface="Roboto" charset="0"/>
                <a:ea typeface="Roboto" charset="0"/>
                <a:cs typeface="Roboto" charset="0"/>
              </a:rPr>
              <a:t>with maximum likelihood approach by </a:t>
            </a:r>
            <a:r>
              <a:rPr lang="en-US" altLang="en-US" sz="2920" b="0" dirty="0">
                <a:solidFill>
                  <a:prstClr val="black">
                    <a:lumMod val="75000"/>
                    <a:lumOff val="25000"/>
                  </a:prstClr>
                </a:solidFill>
                <a:latin typeface="Roboto" charset="0"/>
                <a:ea typeface="Roboto" charset="0"/>
                <a:cs typeface="Roboto" charset="0"/>
              </a:rPr>
              <a:t>high-quality alignments of 1,591 homologous domains from the Pfam </a:t>
            </a:r>
            <a:r>
              <a:rPr lang="en-US" altLang="en-US" sz="2920" b="0" dirty="0" smtClean="0">
                <a:solidFill>
                  <a:prstClr val="black">
                    <a:lumMod val="75000"/>
                    <a:lumOff val="25000"/>
                  </a:prstClr>
                </a:solidFill>
                <a:latin typeface="Roboto" charset="0"/>
                <a:ea typeface="Roboto" charset="0"/>
                <a:cs typeface="Roboto" charset="0"/>
              </a:rPr>
              <a:t>database. </a:t>
            </a:r>
            <a:endParaRPr lang="en-US" altLang="en-US" sz="2920" b="0" dirty="0">
              <a:solidFill>
                <a:prstClr val="black">
                  <a:lumMod val="75000"/>
                  <a:lumOff val="25000"/>
                </a:prstClr>
              </a:solidFill>
              <a:latin typeface="Roboto" charset="0"/>
              <a:ea typeface="Roboto" charset="0"/>
              <a:cs typeface="Roboto" charset="0"/>
            </a:endParaRPr>
          </a:p>
          <a:p>
            <a:pPr marL="457200" lvl="0" indent="-457200" algn="just" defTabSz="2885426">
              <a:lnSpc>
                <a:spcPts val="3904"/>
              </a:lnSpc>
              <a:buSzPct val="125000"/>
              <a:buFont typeface="Wingdings" charset="2"/>
              <a:buChar char="§"/>
            </a:pPr>
            <a:r>
              <a:rPr lang="en-US" altLang="en-US" sz="2920" b="0" dirty="0" smtClean="0">
                <a:solidFill>
                  <a:prstClr val="black">
                    <a:lumMod val="75000"/>
                    <a:lumOff val="25000"/>
                  </a:prstClr>
                </a:solidFill>
                <a:latin typeface="Roboto" charset="0"/>
                <a:ea typeface="Roboto" charset="0"/>
                <a:cs typeface="Roboto" charset="0"/>
              </a:rPr>
              <a:t>The Pearson correlation between the secondary structure and amino acid distances is 0.54 from total 22,293 pairs.</a:t>
            </a:r>
          </a:p>
          <a:p>
            <a:pPr marL="457200" lvl="0" indent="-457200" algn="just" defTabSz="2885426">
              <a:lnSpc>
                <a:spcPts val="3904"/>
              </a:lnSpc>
              <a:buSzPct val="125000"/>
              <a:buFont typeface="Wingdings" charset="2"/>
              <a:buChar char="§"/>
            </a:pPr>
            <a:r>
              <a:rPr lang="en-US" altLang="en-US" sz="2920" b="0" dirty="0">
                <a:solidFill>
                  <a:prstClr val="black">
                    <a:lumMod val="75000"/>
                    <a:lumOff val="25000"/>
                  </a:prstClr>
                </a:solidFill>
                <a:latin typeface="Roboto" charset="0"/>
                <a:ea typeface="Roboto" charset="0"/>
                <a:cs typeface="Roboto" charset="0"/>
              </a:rPr>
              <a:t>91.17% and 45.25% pairs of homologous domains have short distances </a:t>
            </a:r>
            <a:r>
              <a:rPr lang="en-US" altLang="en-US" sz="2920" b="0" dirty="0" smtClean="0">
                <a:solidFill>
                  <a:prstClr val="black">
                    <a:lumMod val="75000"/>
                    <a:lumOff val="25000"/>
                  </a:prstClr>
                </a:solidFill>
                <a:latin typeface="Roboto" charset="0"/>
                <a:ea typeface="Roboto" charset="0"/>
                <a:cs typeface="Roboto" charset="0"/>
              </a:rPr>
              <a:t>(≤2</a:t>
            </a:r>
            <a:r>
              <a:rPr lang="en-US" altLang="en-US" sz="2920" b="0" dirty="0">
                <a:solidFill>
                  <a:prstClr val="black">
                    <a:lumMod val="75000"/>
                    <a:lumOff val="25000"/>
                  </a:prstClr>
                </a:solidFill>
                <a:latin typeface="Roboto" charset="0"/>
                <a:ea typeface="Roboto" charset="0"/>
                <a:cs typeface="Roboto" charset="0"/>
              </a:rPr>
              <a:t>), according to the Evo-SS and </a:t>
            </a:r>
            <a:r>
              <a:rPr lang="en-US" altLang="en-US" sz="2920" b="0" dirty="0" smtClean="0">
                <a:solidFill>
                  <a:prstClr val="black">
                    <a:lumMod val="75000"/>
                    <a:lumOff val="25000"/>
                  </a:prstClr>
                </a:solidFill>
                <a:latin typeface="Roboto" charset="0"/>
                <a:ea typeface="Roboto" charset="0"/>
                <a:cs typeface="Roboto" charset="0"/>
              </a:rPr>
              <a:t>JTT </a:t>
            </a:r>
            <a:r>
              <a:rPr lang="en-US" altLang="en-US" sz="2920" b="0" dirty="0">
                <a:solidFill>
                  <a:prstClr val="black">
                    <a:lumMod val="75000"/>
                    <a:lumOff val="25000"/>
                  </a:prstClr>
                </a:solidFill>
                <a:latin typeface="Roboto" charset="0"/>
                <a:ea typeface="Roboto" charset="0"/>
                <a:cs typeface="Roboto" charset="0"/>
              </a:rPr>
              <a:t>models, respectively.</a:t>
            </a:r>
          </a:p>
          <a:p>
            <a:pPr marL="457200" lvl="0" indent="-457200" algn="just" defTabSz="2885426">
              <a:lnSpc>
                <a:spcPts val="3904"/>
              </a:lnSpc>
              <a:buSzPct val="125000"/>
              <a:buFont typeface="Wingdings" charset="2"/>
              <a:buChar char="§"/>
            </a:pPr>
            <a:r>
              <a:rPr lang="en-US" altLang="en-US" sz="2920" b="0" dirty="0">
                <a:solidFill>
                  <a:prstClr val="black">
                    <a:lumMod val="75000"/>
                    <a:lumOff val="25000"/>
                  </a:prstClr>
                </a:solidFill>
                <a:latin typeface="Roboto" charset="0"/>
                <a:ea typeface="Roboto" charset="0"/>
                <a:cs typeface="Roboto" charset="0"/>
              </a:rPr>
              <a:t>In the set of distant homologues according to </a:t>
            </a:r>
            <a:r>
              <a:rPr lang="en-US" altLang="en-US" sz="2920" b="0" dirty="0" smtClean="0">
                <a:solidFill>
                  <a:prstClr val="black">
                    <a:lumMod val="75000"/>
                    <a:lumOff val="25000"/>
                  </a:prstClr>
                </a:solidFill>
                <a:latin typeface="Roboto" charset="0"/>
                <a:ea typeface="Roboto" charset="0"/>
                <a:cs typeface="Roboto" charset="0"/>
              </a:rPr>
              <a:t>JTT (&gt;</a:t>
            </a:r>
            <a:r>
              <a:rPr lang="en-US" altLang="en-US" sz="2920" b="0" dirty="0">
                <a:solidFill>
                  <a:prstClr val="black">
                    <a:lumMod val="75000"/>
                    <a:lumOff val="25000"/>
                  </a:prstClr>
                </a:solidFill>
                <a:latin typeface="Roboto" charset="0"/>
                <a:ea typeface="Roboto" charset="0"/>
                <a:cs typeface="Roboto" charset="0"/>
              </a:rPr>
              <a:t>2), 84.85% of them are close homologues </a:t>
            </a:r>
            <a:r>
              <a:rPr lang="en-US" altLang="en-US" sz="2920" b="0" dirty="0" smtClean="0">
                <a:solidFill>
                  <a:prstClr val="black">
                    <a:lumMod val="75000"/>
                    <a:lumOff val="25000"/>
                  </a:prstClr>
                </a:solidFill>
                <a:latin typeface="Roboto" charset="0"/>
                <a:ea typeface="Roboto" charset="0"/>
                <a:cs typeface="Roboto" charset="0"/>
              </a:rPr>
              <a:t>(≤2</a:t>
            </a:r>
            <a:r>
              <a:rPr lang="en-US" altLang="en-US" sz="2920" b="0" dirty="0">
                <a:solidFill>
                  <a:prstClr val="black">
                    <a:lumMod val="75000"/>
                    <a:lumOff val="25000"/>
                  </a:prstClr>
                </a:solidFill>
                <a:latin typeface="Roboto" charset="0"/>
                <a:ea typeface="Roboto" charset="0"/>
                <a:cs typeface="Roboto" charset="0"/>
              </a:rPr>
              <a:t>) according to Evo-SS</a:t>
            </a:r>
            <a:r>
              <a:rPr lang="en-US" altLang="en-US" sz="2920" b="0" dirty="0" smtClean="0">
                <a:solidFill>
                  <a:prstClr val="black">
                    <a:lumMod val="75000"/>
                    <a:lumOff val="25000"/>
                  </a:prstClr>
                </a:solidFill>
                <a:latin typeface="Roboto" charset="0"/>
                <a:ea typeface="Roboto" charset="0"/>
                <a:cs typeface="Roboto" charset="0"/>
              </a:rPr>
              <a:t>.</a:t>
            </a:r>
            <a:endParaRPr lang="en-US" altLang="en-US" sz="2920" b="0" dirty="0">
              <a:solidFill>
                <a:prstClr val="black">
                  <a:lumMod val="75000"/>
                  <a:lumOff val="25000"/>
                </a:prstClr>
              </a:solidFill>
              <a:latin typeface="Roboto" charset="0"/>
              <a:ea typeface="Roboto" charset="0"/>
              <a:cs typeface="Roboto" charset="0"/>
            </a:endParaRPr>
          </a:p>
        </p:txBody>
      </p:sp>
      <p:sp>
        <p:nvSpPr>
          <p:cNvPr id="48" name="Text Box 233"/>
          <p:cNvSpPr txBox="1">
            <a:spLocks noChangeArrowheads="1"/>
          </p:cNvSpPr>
          <p:nvPr/>
        </p:nvSpPr>
        <p:spPr bwMode="auto">
          <a:xfrm>
            <a:off x="21527096" y="17210571"/>
            <a:ext cx="1747687" cy="374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lvl="0" algn="just" defTabSz="2885426">
              <a:buSzPct val="125000"/>
            </a:pPr>
            <a:r>
              <a:rPr lang="en-US" altLang="en-US" sz="2000" dirty="0" smtClean="0">
                <a:solidFill>
                  <a:prstClr val="black">
                    <a:lumMod val="75000"/>
                    <a:lumOff val="25000"/>
                  </a:prstClr>
                </a:solidFill>
                <a:latin typeface="Helvetica" charset="0"/>
                <a:ea typeface="Helvetica" charset="0"/>
                <a:cs typeface="Helvetica" charset="0"/>
              </a:rPr>
              <a:t>(JTT)</a:t>
            </a:r>
          </a:p>
        </p:txBody>
      </p:sp>
      <p:sp>
        <p:nvSpPr>
          <p:cNvPr id="49" name="Text Box 233"/>
          <p:cNvSpPr txBox="1">
            <a:spLocks noChangeArrowheads="1"/>
          </p:cNvSpPr>
          <p:nvPr/>
        </p:nvSpPr>
        <p:spPr bwMode="auto">
          <a:xfrm>
            <a:off x="16290007" y="11248431"/>
            <a:ext cx="982340" cy="1134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vert270"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lvl="0" algn="just" defTabSz="2885426">
              <a:buSzPct val="125000"/>
            </a:pPr>
            <a:r>
              <a:rPr lang="en-US" altLang="en-US" sz="2000" dirty="0" smtClean="0">
                <a:solidFill>
                  <a:prstClr val="black">
                    <a:lumMod val="75000"/>
                    <a:lumOff val="25000"/>
                  </a:prstClr>
                </a:solidFill>
                <a:latin typeface="Helvetica" charset="0"/>
                <a:ea typeface="Helvetica" charset="0"/>
                <a:cs typeface="Helvetica" charset="0"/>
              </a:rPr>
              <a:t>(Evo-SS)</a:t>
            </a:r>
          </a:p>
        </p:txBody>
      </p:sp>
      <p:sp>
        <p:nvSpPr>
          <p:cNvPr id="52" name="Text Box 229"/>
          <p:cNvSpPr txBox="1">
            <a:spLocks noChangeArrowheads="1"/>
          </p:cNvSpPr>
          <p:nvPr/>
        </p:nvSpPr>
        <p:spPr bwMode="auto">
          <a:xfrm>
            <a:off x="17017950" y="18434345"/>
            <a:ext cx="15626112" cy="1887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06163" tIns="33071" rIns="306163"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a:r>
              <a:rPr lang="en-US" altLang="en-US" sz="3943" dirty="0" smtClean="0">
                <a:uFill>
                  <a:solidFill>
                    <a:schemeClr val="tx1"/>
                  </a:solidFill>
                </a:uFill>
                <a:latin typeface="Roboto" charset="0"/>
                <a:ea typeface="Roboto" charset="0"/>
                <a:cs typeface="Roboto" charset="0"/>
              </a:rPr>
              <a:t>Secondary </a:t>
            </a:r>
            <a:r>
              <a:rPr lang="en-US" altLang="en-US" sz="3943" dirty="0">
                <a:uFill>
                  <a:solidFill>
                    <a:schemeClr val="tx1"/>
                  </a:solidFill>
                </a:uFill>
                <a:latin typeface="Roboto" charset="0"/>
                <a:ea typeface="Roboto" charset="0"/>
                <a:cs typeface="Roboto" charset="0"/>
              </a:rPr>
              <a:t>structure-based phylogeny </a:t>
            </a:r>
            <a:r>
              <a:rPr lang="en-US" altLang="en-US" sz="3943" dirty="0" smtClean="0">
                <a:uFill>
                  <a:solidFill>
                    <a:schemeClr val="tx1"/>
                  </a:solidFill>
                </a:uFill>
                <a:latin typeface="Roboto" charset="0"/>
                <a:ea typeface="Roboto" charset="0"/>
                <a:cs typeface="Roboto" charset="0"/>
              </a:rPr>
              <a:t>identifies biological </a:t>
            </a:r>
            <a:r>
              <a:rPr lang="en-US" altLang="en-US" sz="3943" dirty="0">
                <a:uFill>
                  <a:solidFill>
                    <a:schemeClr val="tx1"/>
                  </a:solidFill>
                </a:uFill>
                <a:latin typeface="Roboto" charset="0"/>
                <a:ea typeface="Roboto" charset="0"/>
                <a:cs typeface="Roboto" charset="0"/>
              </a:rPr>
              <a:t>properties of Toll/interleukin-1 receptor </a:t>
            </a:r>
            <a:r>
              <a:rPr lang="en-US" altLang="en-US" sz="3943" dirty="0" smtClean="0">
                <a:uFill>
                  <a:solidFill>
                    <a:schemeClr val="tx1"/>
                  </a:solidFill>
                </a:uFill>
                <a:latin typeface="Roboto" charset="0"/>
                <a:ea typeface="Roboto" charset="0"/>
                <a:cs typeface="Roboto" charset="0"/>
              </a:rPr>
              <a:t>(TIR) domains that </a:t>
            </a:r>
            <a:r>
              <a:rPr lang="en-US" altLang="en-US" sz="3943" dirty="0">
                <a:uFill>
                  <a:solidFill>
                    <a:schemeClr val="tx1"/>
                  </a:solidFill>
                </a:uFill>
                <a:latin typeface="Roboto" charset="0"/>
                <a:ea typeface="Roboto" charset="0"/>
                <a:cs typeface="Roboto" charset="0"/>
              </a:rPr>
              <a:t>are not evident from a phylogenetic analysis based on amino acids </a:t>
            </a:r>
          </a:p>
        </p:txBody>
      </p:sp>
      <p:pic>
        <p:nvPicPr>
          <p:cNvPr id="53" name="Picture 52"/>
          <p:cNvPicPr>
            <a:picLocks noChangeAspect="1"/>
          </p:cNvPicPr>
          <p:nvPr/>
        </p:nvPicPr>
        <p:blipFill rotWithShape="1">
          <a:blip r:embed="rId6">
            <a:extLst>
              <a:ext uri="{28A0092B-C50C-407E-A947-70E740481C1C}">
                <a14:useLocalDpi xmlns:a14="http://schemas.microsoft.com/office/drawing/2010/main" val="0"/>
              </a:ext>
            </a:extLst>
          </a:blip>
          <a:srcRect b="5114"/>
          <a:stretch/>
        </p:blipFill>
        <p:spPr>
          <a:xfrm>
            <a:off x="16520033" y="20911696"/>
            <a:ext cx="16032140" cy="8770783"/>
          </a:xfrm>
          <a:prstGeom prst="rect">
            <a:avLst/>
          </a:prstGeom>
        </p:spPr>
      </p:pic>
      <p:sp>
        <p:nvSpPr>
          <p:cNvPr id="54" name="Text Box 233"/>
          <p:cNvSpPr txBox="1">
            <a:spLocks noChangeArrowheads="1"/>
          </p:cNvSpPr>
          <p:nvPr/>
        </p:nvSpPr>
        <p:spPr bwMode="auto">
          <a:xfrm>
            <a:off x="24860842" y="20753487"/>
            <a:ext cx="5845460" cy="1051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lvl="0" defTabSz="2885426">
              <a:buSzPct val="125000"/>
            </a:pPr>
            <a:r>
              <a:rPr lang="en-US" altLang="en-US" sz="1600" b="0" dirty="0" smtClean="0">
                <a:solidFill>
                  <a:prstClr val="black">
                    <a:lumMod val="75000"/>
                    <a:lumOff val="25000"/>
                  </a:prstClr>
                </a:solidFill>
                <a:latin typeface="Roboto" charset="0"/>
                <a:ea typeface="Roboto" charset="0"/>
                <a:cs typeface="Roboto" charset="0"/>
              </a:rPr>
              <a:t>⬤</a:t>
            </a:r>
            <a:r>
              <a:rPr lang="en-US" altLang="en-US" sz="2000" b="0" dirty="0" smtClean="0">
                <a:solidFill>
                  <a:prstClr val="black">
                    <a:lumMod val="75000"/>
                    <a:lumOff val="25000"/>
                  </a:prstClr>
                </a:solidFill>
                <a:latin typeface="Roboto" charset="0"/>
                <a:ea typeface="Roboto" charset="0"/>
                <a:cs typeface="Roboto" charset="0"/>
              </a:rPr>
              <a:t> ancestral common mammalian adaptor</a:t>
            </a:r>
          </a:p>
          <a:p>
            <a:pPr defTabSz="2885426">
              <a:buSzPct val="125000"/>
            </a:pPr>
            <a:r>
              <a:rPr lang="en-US" altLang="en-US" sz="2400" b="0" dirty="0" smtClean="0">
                <a:solidFill>
                  <a:prstClr val="black">
                    <a:lumMod val="75000"/>
                    <a:lumOff val="25000"/>
                  </a:prstClr>
                </a:solidFill>
                <a:latin typeface="Roboto" charset="0"/>
                <a:ea typeface="Roboto" charset="0"/>
                <a:cs typeface="Roboto" charset="0"/>
              </a:rPr>
              <a:t>★</a:t>
            </a:r>
            <a:r>
              <a:rPr lang="en-US" altLang="en-US" sz="2000" b="0" dirty="0" smtClean="0">
                <a:solidFill>
                  <a:prstClr val="black">
                    <a:lumMod val="75000"/>
                    <a:lumOff val="25000"/>
                  </a:prstClr>
                </a:solidFill>
                <a:latin typeface="Roboto" charset="0"/>
                <a:ea typeface="Roboto" charset="0"/>
                <a:cs typeface="Roboto" charset="0"/>
              </a:rPr>
              <a:t>ancestral common mammalian receptor</a:t>
            </a:r>
          </a:p>
          <a:p>
            <a:pPr defTabSz="2885426">
              <a:buSzPct val="125000"/>
            </a:pPr>
            <a:r>
              <a:rPr lang="en-US" altLang="en-US" sz="2000" b="0" dirty="0" smtClean="0">
                <a:solidFill>
                  <a:prstClr val="black">
                    <a:lumMod val="75000"/>
                    <a:lumOff val="25000"/>
                  </a:prstClr>
                </a:solidFill>
                <a:latin typeface="Roboto" charset="0"/>
                <a:ea typeface="Roboto" charset="0"/>
                <a:cs typeface="Roboto" charset="0"/>
              </a:rPr>
              <a:t>Average </a:t>
            </a:r>
            <a:r>
              <a:rPr lang="en-US" altLang="en-US" sz="2000" b="0" dirty="0">
                <a:solidFill>
                  <a:prstClr val="black">
                    <a:lumMod val="75000"/>
                    <a:lumOff val="25000"/>
                  </a:prstClr>
                </a:solidFill>
                <a:latin typeface="Roboto" charset="0"/>
                <a:ea typeface="Roboto" charset="0"/>
                <a:cs typeface="Roboto" charset="0"/>
              </a:rPr>
              <a:t>pairwise sequence identity </a:t>
            </a:r>
            <a:r>
              <a:rPr lang="en-US" altLang="en-US" sz="2000" b="0" dirty="0" smtClean="0">
                <a:solidFill>
                  <a:prstClr val="black">
                    <a:lumMod val="75000"/>
                    <a:lumOff val="25000"/>
                  </a:prstClr>
                </a:solidFill>
                <a:latin typeface="Roboto" charset="0"/>
                <a:ea typeface="Roboto" charset="0"/>
                <a:cs typeface="Roboto" charset="0"/>
              </a:rPr>
              <a:t>= 0.23</a:t>
            </a:r>
            <a:endParaRPr lang="en-US" altLang="en-US" sz="2000" b="0" dirty="0">
              <a:solidFill>
                <a:prstClr val="black">
                  <a:lumMod val="75000"/>
                  <a:lumOff val="25000"/>
                </a:prstClr>
              </a:solidFill>
              <a:latin typeface="Roboto" charset="0"/>
              <a:ea typeface="Roboto" charset="0"/>
              <a:cs typeface="Roboto" charset="0"/>
            </a:endParaRPr>
          </a:p>
        </p:txBody>
      </p:sp>
      <p:sp>
        <p:nvSpPr>
          <p:cNvPr id="56" name="Text Box 233"/>
          <p:cNvSpPr txBox="1">
            <a:spLocks noChangeArrowheads="1"/>
          </p:cNvSpPr>
          <p:nvPr/>
        </p:nvSpPr>
        <p:spPr bwMode="auto">
          <a:xfrm>
            <a:off x="1909233" y="19457343"/>
            <a:ext cx="14745785" cy="1699161"/>
          </a:xfrm>
          <a:prstGeom prst="wedgeRoundRectCallout">
            <a:avLst>
              <a:gd name="adj1" fmla="val 64694"/>
              <a:gd name="adj2" fmla="val 54062"/>
              <a:gd name="adj3" fmla="val 16667"/>
            </a:avLst>
          </a:prstGeom>
          <a:noFill/>
          <a:ln w="1016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defTabSz="2885426">
              <a:lnSpc>
                <a:spcPts val="3904"/>
              </a:lnSpc>
              <a:buSzPct val="125000"/>
            </a:pPr>
            <a:r>
              <a:rPr lang="en-US" altLang="en-US" sz="2920" b="0" dirty="0" smtClean="0">
                <a:solidFill>
                  <a:prstClr val="black">
                    <a:lumMod val="75000"/>
                    <a:lumOff val="25000"/>
                  </a:prstClr>
                </a:solidFill>
                <a:latin typeface="Roboto" charset="0"/>
                <a:ea typeface="Roboto" charset="0"/>
                <a:cs typeface="Roboto" charset="0"/>
              </a:rPr>
              <a:t>The TIR domain of IL-1RAPL shares the same ancestor with the TIR domains of Toll-like receptors (TLRs). This satisfies the observation that the TIR domains of </a:t>
            </a:r>
            <a:br>
              <a:rPr lang="en-US" altLang="en-US" sz="2920" b="0" dirty="0" smtClean="0">
                <a:solidFill>
                  <a:prstClr val="black">
                    <a:lumMod val="75000"/>
                    <a:lumOff val="25000"/>
                  </a:prstClr>
                </a:solidFill>
                <a:latin typeface="Roboto" charset="0"/>
                <a:ea typeface="Roboto" charset="0"/>
                <a:cs typeface="Roboto" charset="0"/>
              </a:rPr>
            </a:br>
            <a:r>
              <a:rPr lang="en-US" altLang="en-US" sz="2920" b="0" dirty="0" smtClean="0">
                <a:solidFill>
                  <a:prstClr val="black">
                    <a:lumMod val="75000"/>
                    <a:lumOff val="25000"/>
                  </a:prstClr>
                </a:solidFill>
                <a:latin typeface="Roboto" charset="0"/>
                <a:ea typeface="Roboto" charset="0"/>
                <a:cs typeface="Roboto" charset="0"/>
              </a:rPr>
              <a:t>IL-1RAPL and the TLRs can interact with the same adaptor MyD88.</a:t>
            </a:r>
          </a:p>
        </p:txBody>
      </p:sp>
      <p:sp>
        <p:nvSpPr>
          <p:cNvPr id="60" name="Text Box 233"/>
          <p:cNvSpPr txBox="1">
            <a:spLocks noChangeArrowheads="1"/>
          </p:cNvSpPr>
          <p:nvPr/>
        </p:nvSpPr>
        <p:spPr bwMode="auto">
          <a:xfrm>
            <a:off x="16290007" y="27810271"/>
            <a:ext cx="9198686" cy="3912533"/>
          </a:xfrm>
          <a:prstGeom prst="wedgeRoundRectCallout">
            <a:avLst>
              <a:gd name="adj1" fmla="val -12241"/>
              <a:gd name="adj2" fmla="val -91842"/>
              <a:gd name="adj3" fmla="val 16667"/>
            </a:avLst>
          </a:prstGeom>
          <a:noFill/>
          <a:ln w="101600">
            <a:solidFill>
              <a:srgbClr val="FF0000"/>
            </a:solidFill>
          </a:ln>
          <a:effectLs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defTabSz="2885426">
              <a:lnSpc>
                <a:spcPts val="3904"/>
              </a:lnSpc>
              <a:buSzPct val="125000"/>
            </a:pPr>
            <a:r>
              <a:rPr lang="en-US" altLang="en-US" sz="2920" b="0" dirty="0" smtClean="0">
                <a:solidFill>
                  <a:prstClr val="black">
                    <a:lumMod val="75000"/>
                    <a:lumOff val="25000"/>
                  </a:prstClr>
                </a:solidFill>
                <a:latin typeface="Roboto" charset="0"/>
                <a:ea typeface="Roboto" charset="0"/>
                <a:cs typeface="Roboto" charset="0"/>
              </a:rPr>
              <a:t>The </a:t>
            </a:r>
            <a:r>
              <a:rPr lang="en-US" altLang="en-US" sz="2920" b="0" dirty="0">
                <a:solidFill>
                  <a:prstClr val="black">
                    <a:lumMod val="75000"/>
                    <a:lumOff val="25000"/>
                  </a:prstClr>
                </a:solidFill>
                <a:latin typeface="Roboto" charset="0"/>
                <a:ea typeface="Roboto" charset="0"/>
                <a:cs typeface="Roboto" charset="0"/>
              </a:rPr>
              <a:t>evolutionary distances from the common ancestral human adaptor to the origin of </a:t>
            </a:r>
            <a:r>
              <a:rPr lang="en-US" altLang="en-US" sz="2920" b="0" dirty="0" smtClean="0">
                <a:solidFill>
                  <a:prstClr val="black">
                    <a:lumMod val="75000"/>
                    <a:lumOff val="25000"/>
                  </a:prstClr>
                </a:solidFill>
                <a:latin typeface="Roboto" charset="0"/>
                <a:ea typeface="Roboto" charset="0"/>
                <a:cs typeface="Roboto" charset="0"/>
              </a:rPr>
              <a:t>TRAM and TRIF </a:t>
            </a:r>
            <a:r>
              <a:rPr lang="en-US" altLang="en-US" sz="2920" b="0" dirty="0">
                <a:solidFill>
                  <a:prstClr val="black">
                    <a:lumMod val="75000"/>
                    <a:lumOff val="25000"/>
                  </a:prstClr>
                </a:solidFill>
                <a:latin typeface="Roboto" charset="0"/>
                <a:ea typeface="Roboto" charset="0"/>
                <a:cs typeface="Roboto" charset="0"/>
              </a:rPr>
              <a:t>doubles than that to the MyD88 and to MAL. This is consistent with the suggestion that the TIR domains of human adaptors TRAM and TRIF have evolved different interactions, to signal in a </a:t>
            </a:r>
            <a:r>
              <a:rPr lang="en-US" altLang="en-US" sz="2920" b="0" dirty="0" smtClean="0">
                <a:solidFill>
                  <a:prstClr val="black">
                    <a:lumMod val="75000"/>
                    <a:lumOff val="25000"/>
                  </a:prstClr>
                </a:solidFill>
                <a:latin typeface="Roboto" charset="0"/>
                <a:ea typeface="Roboto" charset="0"/>
                <a:cs typeface="Roboto" charset="0"/>
              </a:rPr>
              <a:t>separate </a:t>
            </a:r>
            <a:r>
              <a:rPr lang="en-US" altLang="en-US" sz="2920" b="0" dirty="0">
                <a:solidFill>
                  <a:prstClr val="black">
                    <a:lumMod val="75000"/>
                    <a:lumOff val="25000"/>
                  </a:prstClr>
                </a:solidFill>
                <a:latin typeface="Roboto" charset="0"/>
                <a:ea typeface="Roboto" charset="0"/>
                <a:cs typeface="Roboto" charset="0"/>
              </a:rPr>
              <a:t>“MyD88-independent” pathway </a:t>
            </a:r>
            <a:endParaRPr lang="en-US" altLang="en-US" sz="2920" b="0" dirty="0" smtClean="0">
              <a:solidFill>
                <a:prstClr val="black">
                  <a:lumMod val="75000"/>
                  <a:lumOff val="25000"/>
                </a:prstClr>
              </a:solidFill>
              <a:latin typeface="Roboto" charset="0"/>
              <a:ea typeface="Roboto" charset="0"/>
              <a:cs typeface="Roboto" charset="0"/>
            </a:endParaRPr>
          </a:p>
        </p:txBody>
      </p:sp>
      <p:sp>
        <p:nvSpPr>
          <p:cNvPr id="62" name="Text Box 233"/>
          <p:cNvSpPr txBox="1">
            <a:spLocks noChangeArrowheads="1"/>
          </p:cNvSpPr>
          <p:nvPr/>
        </p:nvSpPr>
        <p:spPr bwMode="auto">
          <a:xfrm>
            <a:off x="25651047" y="29106415"/>
            <a:ext cx="6848655" cy="5019218"/>
          </a:xfrm>
          <a:prstGeom prst="wedgeRoundRectCallout">
            <a:avLst>
              <a:gd name="adj1" fmla="val 9290"/>
              <a:gd name="adj2" fmla="val -91073"/>
              <a:gd name="adj3" fmla="val 16667"/>
            </a:avLst>
          </a:prstGeom>
          <a:noFill/>
          <a:ln w="1016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defTabSz="2885426">
              <a:lnSpc>
                <a:spcPts val="3904"/>
              </a:lnSpc>
              <a:buSzPct val="125000"/>
            </a:pPr>
            <a:r>
              <a:rPr lang="en-US" altLang="en-US" sz="2920" b="0" dirty="0" smtClean="0">
                <a:solidFill>
                  <a:prstClr val="black">
                    <a:lumMod val="75000"/>
                    <a:lumOff val="25000"/>
                  </a:prstClr>
                </a:solidFill>
                <a:latin typeface="Roboto" charset="0"/>
                <a:ea typeface="Roboto" charset="0"/>
                <a:cs typeface="Roboto" charset="0"/>
              </a:rPr>
              <a:t>The </a:t>
            </a:r>
            <a:r>
              <a:rPr lang="en-US" altLang="en-US" sz="2920" b="0" dirty="0">
                <a:solidFill>
                  <a:prstClr val="black">
                    <a:lumMod val="75000"/>
                    <a:lumOff val="25000"/>
                  </a:prstClr>
                </a:solidFill>
                <a:latin typeface="Roboto" charset="0"/>
                <a:ea typeface="Roboto" charset="0"/>
                <a:cs typeface="Roboto" charset="0"/>
              </a:rPr>
              <a:t>ancestral bacterial TIR domain is closer to both the ancestral human receptors and </a:t>
            </a:r>
            <a:r>
              <a:rPr lang="en-US" altLang="en-US" sz="2920" b="0" dirty="0" smtClean="0">
                <a:solidFill>
                  <a:prstClr val="black">
                    <a:lumMod val="75000"/>
                    <a:lumOff val="25000"/>
                  </a:prstClr>
                </a:solidFill>
                <a:latin typeface="Roboto" charset="0"/>
                <a:ea typeface="Roboto" charset="0"/>
                <a:cs typeface="Roboto" charset="0"/>
              </a:rPr>
              <a:t>adaptors </a:t>
            </a:r>
            <a:r>
              <a:rPr lang="en-US" altLang="en-US" sz="2920" b="0" dirty="0">
                <a:solidFill>
                  <a:prstClr val="black">
                    <a:lumMod val="75000"/>
                    <a:lumOff val="25000"/>
                  </a:prstClr>
                </a:solidFill>
                <a:latin typeface="Roboto" charset="0"/>
                <a:ea typeface="Roboto" charset="0"/>
                <a:cs typeface="Roboto" charset="0"/>
              </a:rPr>
              <a:t>than to the ancestral plant </a:t>
            </a:r>
            <a:r>
              <a:rPr lang="en-US" altLang="en-US" sz="2920" b="0" dirty="0" smtClean="0">
                <a:solidFill>
                  <a:prstClr val="black">
                    <a:lumMod val="75000"/>
                    <a:lumOff val="25000"/>
                  </a:prstClr>
                </a:solidFill>
                <a:latin typeface="Roboto" charset="0"/>
                <a:ea typeface="Roboto" charset="0"/>
                <a:cs typeface="Roboto" charset="0"/>
              </a:rPr>
              <a:t>receptors; thus, bacterial </a:t>
            </a:r>
            <a:r>
              <a:rPr lang="en-US" altLang="en-US" sz="2920" b="0" smtClean="0">
                <a:solidFill>
                  <a:prstClr val="black">
                    <a:lumMod val="75000"/>
                    <a:lumOff val="25000"/>
                  </a:prstClr>
                </a:solidFill>
                <a:latin typeface="Roboto" charset="0"/>
                <a:ea typeface="Roboto" charset="0"/>
                <a:cs typeface="Roboto" charset="0"/>
              </a:rPr>
              <a:t>TIR </a:t>
            </a:r>
            <a:r>
              <a:rPr lang="en-GB" altLang="en-US" sz="2920" b="0" dirty="0" smtClean="0">
                <a:solidFill>
                  <a:prstClr val="black">
                    <a:lumMod val="75000"/>
                    <a:lumOff val="25000"/>
                  </a:prstClr>
                </a:solidFill>
                <a:latin typeface="Roboto" charset="0"/>
                <a:ea typeface="Roboto" charset="0"/>
                <a:cs typeface="Roboto" charset="0"/>
              </a:rPr>
              <a:t>domains</a:t>
            </a:r>
            <a:r>
              <a:rPr lang="en-US" altLang="en-US" sz="2920" b="0" dirty="0" smtClean="0">
                <a:solidFill>
                  <a:prstClr val="black">
                    <a:lumMod val="75000"/>
                    <a:lumOff val="25000"/>
                  </a:prstClr>
                </a:solidFill>
                <a:latin typeface="Roboto" charset="0"/>
                <a:ea typeface="Roboto" charset="0"/>
                <a:cs typeface="Roboto" charset="0"/>
              </a:rPr>
              <a:t> </a:t>
            </a:r>
            <a:r>
              <a:rPr lang="en-US" altLang="en-US" sz="2920" b="0" dirty="0" smtClean="0">
                <a:solidFill>
                  <a:prstClr val="black">
                    <a:lumMod val="75000"/>
                    <a:lumOff val="25000"/>
                  </a:prstClr>
                </a:solidFill>
                <a:latin typeface="Roboto" charset="0"/>
                <a:ea typeface="Roboto" charset="0"/>
                <a:cs typeface="Roboto" charset="0"/>
              </a:rPr>
              <a:t>may </a:t>
            </a:r>
            <a:r>
              <a:rPr lang="en-US" altLang="en-US" sz="2920" b="0" dirty="0">
                <a:solidFill>
                  <a:prstClr val="black">
                    <a:lumMod val="75000"/>
                    <a:lumOff val="25000"/>
                  </a:prstClr>
                </a:solidFill>
                <a:latin typeface="Roboto" charset="0"/>
                <a:ea typeface="Roboto" charset="0"/>
                <a:cs typeface="Roboto" charset="0"/>
              </a:rPr>
              <a:t>not function as simple mimics of these host proteins to interfere with TLR signalling </a:t>
            </a:r>
            <a:r>
              <a:rPr lang="en-US" altLang="en-US" sz="2920" b="0" dirty="0" smtClean="0">
                <a:solidFill>
                  <a:prstClr val="black">
                    <a:lumMod val="75000"/>
                    <a:lumOff val="25000"/>
                  </a:prstClr>
                </a:solidFill>
                <a:latin typeface="Roboto" charset="0"/>
                <a:ea typeface="Roboto" charset="0"/>
                <a:cs typeface="Roboto" charset="0"/>
              </a:rPr>
              <a:t>pathways.</a:t>
            </a:r>
          </a:p>
        </p:txBody>
      </p:sp>
      <p:pic>
        <p:nvPicPr>
          <p:cNvPr id="9" name="Picture 8"/>
          <p:cNvPicPr>
            <a:picLocks noChangeAspect="1"/>
          </p:cNvPicPr>
          <p:nvPr/>
        </p:nvPicPr>
        <p:blipFill>
          <a:blip r:embed="rId7"/>
          <a:stretch>
            <a:fillRect/>
          </a:stretch>
        </p:blipFill>
        <p:spPr>
          <a:xfrm>
            <a:off x="835964" y="31545170"/>
            <a:ext cx="10203488" cy="1789793"/>
          </a:xfrm>
          <a:prstGeom prst="rect">
            <a:avLst/>
          </a:prstGeom>
        </p:spPr>
      </p:pic>
      <p:sp>
        <p:nvSpPr>
          <p:cNvPr id="65" name="Text Box 229"/>
          <p:cNvSpPr txBox="1">
            <a:spLocks noChangeArrowheads="1"/>
          </p:cNvSpPr>
          <p:nvPr/>
        </p:nvSpPr>
        <p:spPr bwMode="auto">
          <a:xfrm>
            <a:off x="26803175" y="24957031"/>
            <a:ext cx="5482878" cy="965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06163" tIns="33071" rIns="306163"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r>
              <a:rPr lang="en-US" altLang="en-US" sz="2920" dirty="0" smtClean="0">
                <a:uFill>
                  <a:solidFill>
                    <a:schemeClr val="tx1"/>
                  </a:solidFill>
                </a:uFill>
                <a:latin typeface="Roboto" charset="0"/>
                <a:ea typeface="Roboto" charset="0"/>
                <a:cs typeface="Roboto" charset="0"/>
              </a:rPr>
              <a:t>Evo-SS based</a:t>
            </a:r>
            <a:br>
              <a:rPr lang="en-US" altLang="en-US" sz="2920" dirty="0" smtClean="0">
                <a:uFill>
                  <a:solidFill>
                    <a:schemeClr val="tx1"/>
                  </a:solidFill>
                </a:uFill>
                <a:latin typeface="Roboto" charset="0"/>
                <a:ea typeface="Roboto" charset="0"/>
                <a:cs typeface="Roboto" charset="0"/>
              </a:rPr>
            </a:br>
            <a:r>
              <a:rPr lang="en-US" altLang="en-US" sz="2920" dirty="0" smtClean="0">
                <a:uFill>
                  <a:solidFill>
                    <a:schemeClr val="tx1"/>
                  </a:solidFill>
                </a:uFill>
                <a:latin typeface="Roboto" charset="0"/>
                <a:ea typeface="Roboto" charset="0"/>
                <a:cs typeface="Roboto" charset="0"/>
              </a:rPr>
              <a:t>(secondary structure) tree</a:t>
            </a:r>
            <a:endParaRPr lang="en-US" altLang="en-US" sz="2920" dirty="0">
              <a:uFill>
                <a:solidFill>
                  <a:schemeClr val="tx1"/>
                </a:solidFill>
              </a:uFill>
              <a:latin typeface="Roboto" charset="0"/>
              <a:ea typeface="Roboto" charset="0"/>
              <a:cs typeface="Roboto" charset="0"/>
            </a:endParaRPr>
          </a:p>
        </p:txBody>
      </p:sp>
      <p:sp>
        <p:nvSpPr>
          <p:cNvPr id="66" name="Text Box 229"/>
          <p:cNvSpPr txBox="1">
            <a:spLocks noChangeArrowheads="1"/>
          </p:cNvSpPr>
          <p:nvPr/>
        </p:nvSpPr>
        <p:spPr bwMode="auto">
          <a:xfrm>
            <a:off x="21661357" y="36840272"/>
            <a:ext cx="5177844" cy="516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06163" tIns="33071" rIns="306163"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r>
              <a:rPr lang="en-US" altLang="en-US" sz="2920" smtClean="0">
                <a:uFill>
                  <a:solidFill>
                    <a:schemeClr val="tx1"/>
                  </a:solidFill>
                </a:uFill>
                <a:latin typeface="Roboto" charset="0"/>
                <a:ea typeface="Roboto" charset="0"/>
                <a:cs typeface="Roboto" charset="0"/>
              </a:rPr>
              <a:t>Amino acid-based </a:t>
            </a:r>
            <a:r>
              <a:rPr lang="en-US" altLang="en-US" sz="2920" dirty="0" smtClean="0">
                <a:uFill>
                  <a:solidFill>
                    <a:schemeClr val="tx1"/>
                  </a:solidFill>
                </a:uFill>
                <a:latin typeface="Roboto" charset="0"/>
                <a:ea typeface="Roboto" charset="0"/>
                <a:cs typeface="Roboto" charset="0"/>
              </a:rPr>
              <a:t>tree</a:t>
            </a:r>
            <a:endParaRPr lang="en-US" altLang="en-US" sz="2920" dirty="0">
              <a:uFill>
                <a:solidFill>
                  <a:schemeClr val="tx1"/>
                </a:solidFill>
              </a:uFill>
              <a:latin typeface="Roboto" charset="0"/>
              <a:ea typeface="Roboto" charset="0"/>
              <a:cs typeface="Roboto" charset="0"/>
            </a:endParaRPr>
          </a:p>
        </p:txBody>
      </p:sp>
      <p:sp>
        <p:nvSpPr>
          <p:cNvPr id="78" name="Rectangle 77"/>
          <p:cNvSpPr/>
          <p:nvPr/>
        </p:nvSpPr>
        <p:spPr>
          <a:xfrm>
            <a:off x="11264613" y="23801631"/>
            <a:ext cx="4824536" cy="943304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9" name="Picture 78"/>
          <p:cNvPicPr>
            <a:picLocks noChangeAspect="1"/>
          </p:cNvPicPr>
          <p:nvPr/>
        </p:nvPicPr>
        <p:blipFill rotWithShape="1">
          <a:blip r:embed="rId8" cstate="hqprint">
            <a:extLst>
              <a:ext uri="{28A0092B-C50C-407E-A947-70E740481C1C}">
                <a14:useLocalDpi xmlns:a14="http://schemas.microsoft.com/office/drawing/2010/main"/>
              </a:ext>
            </a:extLst>
          </a:blip>
          <a:srcRect/>
          <a:stretch/>
        </p:blipFill>
        <p:spPr>
          <a:xfrm>
            <a:off x="13840742" y="24097961"/>
            <a:ext cx="2248407" cy="2872022"/>
          </a:xfrm>
          <a:prstGeom prst="rect">
            <a:avLst/>
          </a:prstGeom>
          <a:ln>
            <a:noFill/>
          </a:ln>
        </p:spPr>
      </p:pic>
      <p:pic>
        <p:nvPicPr>
          <p:cNvPr id="80" name="Picture 79"/>
          <p:cNvPicPr>
            <a:picLocks noChangeAspect="1"/>
          </p:cNvPicPr>
          <p:nvPr/>
        </p:nvPicPr>
        <p:blipFill rotWithShape="1">
          <a:blip r:embed="rId9" cstate="hqprint">
            <a:extLst>
              <a:ext uri="{28A0092B-C50C-407E-A947-70E740481C1C}">
                <a14:useLocalDpi xmlns:a14="http://schemas.microsoft.com/office/drawing/2010/main"/>
              </a:ext>
            </a:extLst>
          </a:blip>
          <a:srcRect b="1675"/>
          <a:stretch/>
        </p:blipFill>
        <p:spPr>
          <a:xfrm>
            <a:off x="13886593" y="30430920"/>
            <a:ext cx="2194095" cy="2813648"/>
          </a:xfrm>
          <a:prstGeom prst="rect">
            <a:avLst/>
          </a:prstGeom>
        </p:spPr>
      </p:pic>
      <p:pic>
        <p:nvPicPr>
          <p:cNvPr id="85" name="Picture 84"/>
          <p:cNvPicPr>
            <a:picLocks noChangeAspect="1"/>
          </p:cNvPicPr>
          <p:nvPr/>
        </p:nvPicPr>
        <p:blipFill>
          <a:blip r:embed="rId10"/>
          <a:stretch>
            <a:fillRect/>
          </a:stretch>
        </p:blipFill>
        <p:spPr>
          <a:xfrm>
            <a:off x="11265704" y="30961195"/>
            <a:ext cx="1690608" cy="2131637"/>
          </a:xfrm>
          <a:prstGeom prst="rect">
            <a:avLst/>
          </a:prstGeom>
        </p:spPr>
      </p:pic>
      <p:pic>
        <p:nvPicPr>
          <p:cNvPr id="86" name="Picture 85"/>
          <p:cNvPicPr>
            <a:picLocks noChangeAspect="1"/>
          </p:cNvPicPr>
          <p:nvPr/>
        </p:nvPicPr>
        <p:blipFill rotWithShape="1">
          <a:blip r:embed="rId11" cstate="hqprint">
            <a:clrChange>
              <a:clrFrom>
                <a:srgbClr val="000000"/>
              </a:clrFrom>
              <a:clrTo>
                <a:srgbClr val="000000">
                  <a:alpha val="0"/>
                </a:srgbClr>
              </a:clrTo>
            </a:clrChange>
            <a:extLst>
              <a:ext uri="{28A0092B-C50C-407E-A947-70E740481C1C}">
                <a14:useLocalDpi xmlns:a14="http://schemas.microsoft.com/office/drawing/2010/main"/>
              </a:ext>
            </a:extLst>
          </a:blip>
          <a:srcRect/>
          <a:stretch/>
        </p:blipFill>
        <p:spPr>
          <a:xfrm>
            <a:off x="11313875" y="23852362"/>
            <a:ext cx="3518831" cy="4589345"/>
          </a:xfrm>
          <a:prstGeom prst="rect">
            <a:avLst/>
          </a:prstGeom>
        </p:spPr>
      </p:pic>
      <p:pic>
        <p:nvPicPr>
          <p:cNvPr id="90" name="Picture 89"/>
          <p:cNvPicPr>
            <a:picLocks noChangeAspect="1"/>
          </p:cNvPicPr>
          <p:nvPr/>
        </p:nvPicPr>
        <p:blipFill rotWithShape="1">
          <a:blip r:embed="rId12" cstate="hqprint">
            <a:clrChange>
              <a:clrFrom>
                <a:srgbClr val="000000"/>
              </a:clrFrom>
              <a:clrTo>
                <a:srgbClr val="000000">
                  <a:alpha val="0"/>
                </a:srgbClr>
              </a:clrTo>
            </a:clrChange>
            <a:extLst>
              <a:ext uri="{28A0092B-C50C-407E-A947-70E740481C1C}">
                <a14:useLocalDpi xmlns:a14="http://schemas.microsoft.com/office/drawing/2010/main"/>
              </a:ext>
            </a:extLst>
          </a:blip>
          <a:srcRect b="15462"/>
          <a:stretch/>
        </p:blipFill>
        <p:spPr>
          <a:xfrm>
            <a:off x="11350162" y="27646243"/>
            <a:ext cx="3518831" cy="3879747"/>
          </a:xfrm>
          <a:prstGeom prst="rect">
            <a:avLst/>
          </a:prstGeom>
        </p:spPr>
      </p:pic>
      <p:sp>
        <p:nvSpPr>
          <p:cNvPr id="91" name="Text Box 233"/>
          <p:cNvSpPr txBox="1">
            <a:spLocks noChangeArrowheads="1"/>
          </p:cNvSpPr>
          <p:nvPr/>
        </p:nvSpPr>
        <p:spPr bwMode="auto">
          <a:xfrm>
            <a:off x="12525132" y="27980445"/>
            <a:ext cx="3564017" cy="1605671"/>
          </a:xfrm>
          <a:prstGeom prst="rect">
            <a:avLst/>
          </a:prstGeom>
          <a:solidFill>
            <a:schemeClr val="tx1">
              <a:alpha val="0"/>
            </a:schemeClr>
          </a:solidFill>
          <a:ln>
            <a:noFill/>
          </a:ln>
          <a:effectLs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defTabSz="2885426"/>
            <a:r>
              <a:rPr lang="en-US" altLang="en-US" sz="2000" b="0" dirty="0" smtClean="0">
                <a:solidFill>
                  <a:schemeClr val="bg1"/>
                </a:solidFill>
                <a:latin typeface="Roboto" charset="0"/>
                <a:ea typeface="Roboto" charset="0"/>
                <a:cs typeface="Roboto" charset="0"/>
              </a:rPr>
              <a:t>(upper) 10 modern homologous proteins </a:t>
            </a:r>
          </a:p>
          <a:p>
            <a:pPr defTabSz="2885426"/>
            <a:endParaRPr lang="en-US" altLang="en-US" sz="2000" b="0" dirty="0">
              <a:solidFill>
                <a:schemeClr val="bg1"/>
              </a:solidFill>
              <a:latin typeface="Roboto" charset="0"/>
              <a:ea typeface="Roboto" charset="0"/>
              <a:cs typeface="Roboto" charset="0"/>
            </a:endParaRPr>
          </a:p>
          <a:p>
            <a:pPr defTabSz="2885426"/>
            <a:r>
              <a:rPr lang="en-US" altLang="en-US" sz="2000" b="0" dirty="0" smtClean="0">
                <a:solidFill>
                  <a:schemeClr val="bg1"/>
                </a:solidFill>
                <a:latin typeface="Roboto" charset="0"/>
                <a:ea typeface="Roboto" charset="0"/>
                <a:cs typeface="Roboto" charset="0"/>
              </a:rPr>
              <a:t>(</a:t>
            </a:r>
            <a:r>
              <a:rPr lang="en-US" altLang="en-US" sz="2000" b="0" dirty="0">
                <a:solidFill>
                  <a:schemeClr val="bg1"/>
                </a:solidFill>
                <a:latin typeface="Roboto" charset="0"/>
                <a:ea typeface="Roboto" charset="0"/>
                <a:cs typeface="Roboto" charset="0"/>
              </a:rPr>
              <a:t>lower) Ancestral </a:t>
            </a:r>
            <a:r>
              <a:rPr lang="en-US" altLang="en-US" sz="2000" b="0" dirty="0" smtClean="0">
                <a:solidFill>
                  <a:schemeClr val="bg1"/>
                </a:solidFill>
                <a:latin typeface="Roboto" charset="0"/>
                <a:ea typeface="Roboto" charset="0"/>
                <a:cs typeface="Roboto" charset="0"/>
              </a:rPr>
              <a:t>protein structure 4CSV [1]</a:t>
            </a:r>
            <a:endParaRPr lang="en-US" altLang="en-US" sz="2000" b="0" dirty="0">
              <a:solidFill>
                <a:schemeClr val="bg1"/>
              </a:solidFill>
              <a:latin typeface="Roboto" charset="0"/>
              <a:ea typeface="Roboto" charset="0"/>
              <a:cs typeface="Roboto" charset="0"/>
            </a:endParaRPr>
          </a:p>
        </p:txBody>
      </p:sp>
      <p:sp>
        <p:nvSpPr>
          <p:cNvPr id="92" name="Text Box 233"/>
          <p:cNvSpPr txBox="1">
            <a:spLocks noChangeArrowheads="1"/>
          </p:cNvSpPr>
          <p:nvPr/>
        </p:nvSpPr>
        <p:spPr bwMode="auto">
          <a:xfrm>
            <a:off x="10976581" y="23838817"/>
            <a:ext cx="5114109" cy="374564"/>
          </a:xfrm>
          <a:prstGeom prst="rect">
            <a:avLst/>
          </a:prstGeom>
          <a:solidFill>
            <a:schemeClr val="tx1">
              <a:alpha val="0"/>
            </a:schemeClr>
          </a:solidFill>
          <a:ln>
            <a:noFill/>
          </a:ln>
          <a:effectLs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defTabSz="2885426"/>
            <a:r>
              <a:rPr lang="en-US" altLang="en-US" sz="2000" b="0" dirty="0" smtClean="0">
                <a:solidFill>
                  <a:schemeClr val="bg1"/>
                </a:solidFill>
                <a:latin typeface="Roboto" charset="0"/>
                <a:ea typeface="Roboto" charset="0"/>
                <a:cs typeface="Roboto" charset="0"/>
              </a:rPr>
              <a:t>Mean pairwise sequence identity 0.44</a:t>
            </a:r>
            <a:endParaRPr lang="en-US" altLang="en-US" sz="2000" b="0" dirty="0">
              <a:solidFill>
                <a:schemeClr val="bg1"/>
              </a:solidFill>
              <a:latin typeface="Roboto" charset="0"/>
              <a:ea typeface="Roboto" charset="0"/>
              <a:cs typeface="Roboto" charset="0"/>
            </a:endParaRPr>
          </a:p>
        </p:txBody>
      </p:sp>
      <p:pic>
        <p:nvPicPr>
          <p:cNvPr id="4" name="Picture 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6645025" y="11590357"/>
            <a:ext cx="7185073" cy="5920913"/>
          </a:xfrm>
          <a:prstGeom prst="rect">
            <a:avLst/>
          </a:prstGeom>
        </p:spPr>
      </p:pic>
      <p:pic>
        <p:nvPicPr>
          <p:cNvPr id="22" name="Picture 21"/>
          <p:cNvPicPr>
            <a:picLocks noChangeAspect="1"/>
          </p:cNvPicPr>
          <p:nvPr/>
        </p:nvPicPr>
        <p:blipFill>
          <a:blip r:embed="rId14"/>
          <a:stretch>
            <a:fillRect/>
          </a:stretch>
        </p:blipFill>
        <p:spPr>
          <a:xfrm>
            <a:off x="961711" y="27397759"/>
            <a:ext cx="9872698" cy="4036697"/>
          </a:xfrm>
          <a:prstGeom prst="rect">
            <a:avLst/>
          </a:prstGeom>
        </p:spPr>
      </p:pic>
      <p:pic>
        <p:nvPicPr>
          <p:cNvPr id="23" name="Picture 22"/>
          <p:cNvPicPr>
            <a:picLocks noChangeAspect="1"/>
          </p:cNvPicPr>
          <p:nvPr/>
        </p:nvPicPr>
        <p:blipFill>
          <a:blip r:embed="rId15"/>
          <a:stretch>
            <a:fillRect/>
          </a:stretch>
        </p:blipFill>
        <p:spPr>
          <a:xfrm>
            <a:off x="961711" y="23633807"/>
            <a:ext cx="9948407" cy="3953854"/>
          </a:xfrm>
          <a:prstGeom prst="rect">
            <a:avLst/>
          </a:prstGeom>
        </p:spPr>
      </p:pic>
      <p:sp>
        <p:nvSpPr>
          <p:cNvPr id="68" name="Text Box 233"/>
          <p:cNvSpPr txBox="1">
            <a:spLocks noChangeArrowheads="1"/>
          </p:cNvSpPr>
          <p:nvPr/>
        </p:nvSpPr>
        <p:spPr bwMode="auto">
          <a:xfrm>
            <a:off x="25347986" y="35202492"/>
            <a:ext cx="6909121" cy="1660143"/>
          </a:xfrm>
          <a:prstGeom prst="wedgeRoundRectCallout">
            <a:avLst>
              <a:gd name="adj1" fmla="val -66051"/>
              <a:gd name="adj2" fmla="val -26744"/>
              <a:gd name="adj3" fmla="val 16667"/>
            </a:avLst>
          </a:prstGeom>
          <a:noFill/>
          <a:ln w="1016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algn="just" defTabSz="2885426">
              <a:lnSpc>
                <a:spcPts val="3804"/>
              </a:lnSpc>
              <a:buSzPct val="125000"/>
            </a:pPr>
            <a:r>
              <a:rPr lang="en-US" altLang="en-US" sz="2920" b="0" dirty="0" smtClean="0">
                <a:solidFill>
                  <a:prstClr val="black">
                    <a:lumMod val="75000"/>
                    <a:lumOff val="25000"/>
                  </a:prstClr>
                </a:solidFill>
                <a:latin typeface="Roboto" charset="0"/>
                <a:ea typeface="Roboto" charset="0"/>
                <a:cs typeface="Roboto" charset="0"/>
              </a:rPr>
              <a:t>Neither </a:t>
            </a:r>
            <a:r>
              <a:rPr lang="en-US" altLang="en-US" sz="2920" b="0" dirty="0">
                <a:solidFill>
                  <a:prstClr val="black">
                    <a:lumMod val="75000"/>
                    <a:lumOff val="25000"/>
                  </a:prstClr>
                </a:solidFill>
                <a:latin typeface="Roboto" charset="0"/>
                <a:ea typeface="Roboto" charset="0"/>
                <a:cs typeface="Roboto" charset="0"/>
              </a:rPr>
              <a:t>of the </a:t>
            </a:r>
            <a:r>
              <a:rPr lang="en-US" altLang="en-US" sz="2920" b="0" dirty="0" smtClean="0">
                <a:solidFill>
                  <a:prstClr val="black">
                    <a:lumMod val="75000"/>
                    <a:lumOff val="25000"/>
                  </a:prstClr>
                </a:solidFill>
                <a:latin typeface="Roboto" charset="0"/>
                <a:ea typeface="Roboto" charset="0"/>
                <a:cs typeface="Roboto" charset="0"/>
              </a:rPr>
              <a:t>above three observations are </a:t>
            </a:r>
            <a:r>
              <a:rPr lang="en-US" altLang="en-US" sz="2920" b="0" dirty="0">
                <a:solidFill>
                  <a:prstClr val="black">
                    <a:lumMod val="75000"/>
                    <a:lumOff val="25000"/>
                  </a:prstClr>
                </a:solidFill>
                <a:latin typeface="Roboto" charset="0"/>
                <a:ea typeface="Roboto" charset="0"/>
                <a:cs typeface="Roboto" charset="0"/>
              </a:rPr>
              <a:t>supported by the amino acid phylogenetic tree</a:t>
            </a:r>
            <a:r>
              <a:rPr lang="en-US" altLang="en-US" sz="2920" b="0" dirty="0" smtClean="0">
                <a:solidFill>
                  <a:prstClr val="black">
                    <a:lumMod val="75000"/>
                    <a:lumOff val="25000"/>
                  </a:prstClr>
                </a:solidFill>
                <a:latin typeface="Roboto" charset="0"/>
                <a:ea typeface="Roboto" charset="0"/>
                <a:cs typeface="Roboto" charset="0"/>
              </a:rPr>
              <a:t>.</a:t>
            </a:r>
            <a:endParaRPr lang="en-US" altLang="en-US" sz="2920" dirty="0">
              <a:solidFill>
                <a:srgbClr val="FF0000"/>
              </a:solidFill>
              <a:latin typeface="Roboto" charset="0"/>
              <a:ea typeface="Roboto" charset="0"/>
              <a:cs typeface="Roboto" charset="0"/>
            </a:endParaRPr>
          </a:p>
        </p:txBody>
      </p:sp>
      <p:sp>
        <p:nvSpPr>
          <p:cNvPr id="11" name="Rectangle 10"/>
          <p:cNvSpPr/>
          <p:nvPr/>
        </p:nvSpPr>
        <p:spPr>
          <a:xfrm>
            <a:off x="17010059" y="38131308"/>
            <a:ext cx="15625764" cy="2135630"/>
          </a:xfrm>
          <a:prstGeom prst="rect">
            <a:avLst/>
          </a:prstGeom>
          <a:gradFill flip="none" rotWithShape="1">
            <a:gsLst>
              <a:gs pos="0">
                <a:schemeClr val="bg1">
                  <a:lumMod val="0"/>
                  <a:lumOff val="100000"/>
                </a:schemeClr>
              </a:gs>
              <a:gs pos="50000">
                <a:schemeClr val="accent5">
                  <a:lumMod val="20000"/>
                  <a:lumOff val="80000"/>
                </a:schemeClr>
              </a:gs>
            </a:gsLst>
            <a:lin ang="16200000" scaled="1"/>
            <a:tileRect/>
          </a:gra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endParaRPr lang="en-US" altLang="en-US" sz="2923" dirty="0">
              <a:solidFill>
                <a:prstClr val="black">
                  <a:lumMod val="75000"/>
                  <a:lumOff val="25000"/>
                </a:prstClr>
              </a:solidFill>
              <a:latin typeface="Roboto" charset="0"/>
              <a:ea typeface="Roboto" charset="0"/>
              <a:cs typeface="Roboto" charset="0"/>
            </a:endParaRPr>
          </a:p>
        </p:txBody>
      </p:sp>
      <p:sp>
        <p:nvSpPr>
          <p:cNvPr id="13" name="Text Box 233"/>
          <p:cNvSpPr txBox="1">
            <a:spLocks noChangeArrowheads="1"/>
          </p:cNvSpPr>
          <p:nvPr/>
        </p:nvSpPr>
        <p:spPr bwMode="auto">
          <a:xfrm>
            <a:off x="17010059" y="38636011"/>
            <a:ext cx="15624777" cy="131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334020" tIns="33071" rIns="334020" bIns="33071">
            <a:spAutoFit/>
          </a:bodyPr>
          <a:lstStyle>
            <a:lvl1pPr defTabSz="908050">
              <a:defRPr sz="4000" b="1">
                <a:solidFill>
                  <a:srgbClr val="003399"/>
                </a:solidFill>
                <a:latin typeface="Arial" charset="0"/>
              </a:defRPr>
            </a:lvl1pPr>
            <a:lvl2pPr marL="742950" indent="-285750" defTabSz="908050">
              <a:defRPr sz="4000" b="1">
                <a:solidFill>
                  <a:srgbClr val="003399"/>
                </a:solidFill>
                <a:latin typeface="Arial" charset="0"/>
              </a:defRPr>
            </a:lvl2pPr>
            <a:lvl3pPr marL="1143000" indent="-228600" defTabSz="908050">
              <a:defRPr sz="4000" b="1">
                <a:solidFill>
                  <a:srgbClr val="003399"/>
                </a:solidFill>
                <a:latin typeface="Arial" charset="0"/>
              </a:defRPr>
            </a:lvl3pPr>
            <a:lvl4pPr marL="1600200" indent="-228600" defTabSz="908050">
              <a:defRPr sz="4000" b="1">
                <a:solidFill>
                  <a:srgbClr val="003399"/>
                </a:solidFill>
                <a:latin typeface="Arial" charset="0"/>
              </a:defRPr>
            </a:lvl4pPr>
            <a:lvl5pPr marL="2057400" indent="-228600" defTabSz="908050">
              <a:defRPr sz="4000" b="1">
                <a:solidFill>
                  <a:srgbClr val="003399"/>
                </a:solidFill>
                <a:latin typeface="Arial" charset="0"/>
              </a:defRPr>
            </a:lvl5pPr>
            <a:lvl6pPr marL="2514600" indent="-228600" defTabSz="908050" eaLnBrk="0" fontAlgn="base" hangingPunct="0">
              <a:spcBef>
                <a:spcPct val="0"/>
              </a:spcBef>
              <a:spcAft>
                <a:spcPct val="0"/>
              </a:spcAft>
              <a:defRPr sz="4000" b="1">
                <a:solidFill>
                  <a:srgbClr val="003399"/>
                </a:solidFill>
                <a:latin typeface="Arial" charset="0"/>
              </a:defRPr>
            </a:lvl6pPr>
            <a:lvl7pPr marL="2971800" indent="-228600" defTabSz="908050" eaLnBrk="0" fontAlgn="base" hangingPunct="0">
              <a:spcBef>
                <a:spcPct val="0"/>
              </a:spcBef>
              <a:spcAft>
                <a:spcPct val="0"/>
              </a:spcAft>
              <a:defRPr sz="4000" b="1">
                <a:solidFill>
                  <a:srgbClr val="003399"/>
                </a:solidFill>
                <a:latin typeface="Arial" charset="0"/>
              </a:defRPr>
            </a:lvl7pPr>
            <a:lvl8pPr marL="3429000" indent="-228600" defTabSz="908050" eaLnBrk="0" fontAlgn="base" hangingPunct="0">
              <a:spcBef>
                <a:spcPct val="0"/>
              </a:spcBef>
              <a:spcAft>
                <a:spcPct val="0"/>
              </a:spcAft>
              <a:defRPr sz="4000" b="1">
                <a:solidFill>
                  <a:srgbClr val="003399"/>
                </a:solidFill>
                <a:latin typeface="Arial" charset="0"/>
              </a:defRPr>
            </a:lvl8pPr>
            <a:lvl9pPr marL="3886200" indent="-228600" defTabSz="908050" eaLnBrk="0" fontAlgn="base" hangingPunct="0">
              <a:spcBef>
                <a:spcPct val="0"/>
              </a:spcBef>
              <a:spcAft>
                <a:spcPct val="0"/>
              </a:spcAft>
              <a:defRPr sz="4000" b="1">
                <a:solidFill>
                  <a:srgbClr val="003399"/>
                </a:solidFill>
                <a:latin typeface="Arial" charset="0"/>
              </a:defRPr>
            </a:lvl9pPr>
          </a:lstStyle>
          <a:p>
            <a:pPr lvl="0" algn="just" defTabSz="2885426">
              <a:lnSpc>
                <a:spcPts val="3256"/>
              </a:lnSpc>
            </a:pPr>
            <a:r>
              <a:rPr lang="en-US" altLang="en-US" sz="2630" b="0" dirty="0">
                <a:solidFill>
                  <a:prstClr val="black">
                    <a:lumMod val="75000"/>
                    <a:lumOff val="25000"/>
                  </a:prstClr>
                </a:solidFill>
                <a:latin typeface="Roboto" charset="0"/>
                <a:ea typeface="Roboto" charset="0"/>
                <a:cs typeface="Roboto" charset="0"/>
              </a:rPr>
              <a:t>This work was supported by Australian Research Council (ARC) Discovery Project (grant number DP160100865). Bostjan Kobe is a National Health and Medical Research Council (NHMRC) Principal Research Fellow (grant number 1110971).</a:t>
            </a:r>
          </a:p>
        </p:txBody>
      </p:sp>
      <p:sp>
        <p:nvSpPr>
          <p:cNvPr id="84" name="Process 83"/>
          <p:cNvSpPr/>
          <p:nvPr/>
        </p:nvSpPr>
        <p:spPr>
          <a:xfrm>
            <a:off x="16650047" y="37747375"/>
            <a:ext cx="5854365" cy="769441"/>
          </a:xfrm>
          <a:prstGeom prst="flowChartProcess">
            <a:avLst/>
          </a:prstGeom>
          <a:solidFill>
            <a:srgbClr val="0070C0"/>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a:latin typeface="Roboto" charset="0"/>
                <a:ea typeface="Roboto" charset="0"/>
                <a:cs typeface="Roboto" charset="0"/>
              </a:rPr>
              <a:t>Acknowledgement</a:t>
            </a:r>
          </a:p>
        </p:txBody>
      </p:sp>
      <p:sp>
        <p:nvSpPr>
          <p:cNvPr id="15" name="Process 14"/>
          <p:cNvSpPr/>
          <p:nvPr/>
        </p:nvSpPr>
        <p:spPr>
          <a:xfrm>
            <a:off x="16664484" y="40051631"/>
            <a:ext cx="5854365" cy="769441"/>
          </a:xfrm>
          <a:prstGeom prst="flowChartProcess">
            <a:avLst/>
          </a:prstGeom>
          <a:solidFill>
            <a:srgbClr val="0070C0"/>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smtClean="0">
                <a:latin typeface="Roboto" charset="0"/>
                <a:ea typeface="Roboto" charset="0"/>
                <a:cs typeface="Roboto" charset="0"/>
              </a:rPr>
              <a:t>References</a:t>
            </a:r>
            <a:endParaRPr lang="en-US" sz="4400" b="1" dirty="0">
              <a:latin typeface="Roboto" charset="0"/>
              <a:ea typeface="Roboto" charset="0"/>
              <a:cs typeface="Roboto" charset="0"/>
            </a:endParaRPr>
          </a:p>
        </p:txBody>
      </p:sp>
      <p:pic>
        <p:nvPicPr>
          <p:cNvPr id="3" name="Picture 2"/>
          <p:cNvPicPr>
            <a:picLocks noChangeAspect="1"/>
          </p:cNvPicPr>
          <p:nvPr/>
        </p:nvPicPr>
        <p:blipFill rotWithShape="1">
          <a:blip r:embed="rId16">
            <a:extLst>
              <a:ext uri="{28A0092B-C50C-407E-A947-70E740481C1C}">
                <a14:useLocalDpi xmlns:a14="http://schemas.microsoft.com/office/drawing/2010/main" val="0"/>
              </a:ext>
            </a:extLst>
          </a:blip>
          <a:srcRect b="7736"/>
          <a:stretch/>
        </p:blipFill>
        <p:spPr>
          <a:xfrm>
            <a:off x="15986048" y="31820368"/>
            <a:ext cx="9767421" cy="5829443"/>
          </a:xfrm>
          <a:prstGeom prst="rect">
            <a:avLst/>
          </a:prstGeom>
        </p:spPr>
      </p:pic>
    </p:spTree>
    <p:extLst>
      <p:ext uri="{BB962C8B-B14F-4D97-AF65-F5344CB8AC3E}">
        <p14:creationId xmlns:p14="http://schemas.microsoft.com/office/powerpoint/2010/main" val="2839231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3227</TotalTime>
  <Words>1149</Words>
  <Application>Microsoft Macintosh PowerPoint</Application>
  <PresentationFormat>Custom</PresentationFormat>
  <Paragraphs>61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Calibri</vt:lpstr>
      <vt:lpstr>Calibri Light</vt:lpstr>
      <vt:lpstr>Helvetica</vt:lpstr>
      <vt:lpstr>Roboto</vt:lpstr>
      <vt:lpstr>Wingdings</vt:lpstr>
      <vt:lpstr>Arial</vt:lpstr>
      <vt:lpstr>Office Theme</vt:lpstr>
      <vt:lpstr>PowerPoint Presentation</vt:lpstr>
    </vt:vector>
  </TitlesOfParts>
  <Company/>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Jhih-Siang Lai</dc:creator>
  <cp:lastModifiedBy>Jhih-Siang Lai</cp:lastModifiedBy>
  <cp:revision>526</cp:revision>
  <cp:lastPrinted>2017-07-11T15:22:05Z</cp:lastPrinted>
  <dcterms:created xsi:type="dcterms:W3CDTF">2016-09-28T01:31:06Z</dcterms:created>
  <dcterms:modified xsi:type="dcterms:W3CDTF">2017-07-12T02:49:46Z</dcterms:modified>
</cp:coreProperties>
</file>